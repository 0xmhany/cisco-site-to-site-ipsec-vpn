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9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5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4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32.png"/><Relationship Id="rId7" Type="http://schemas.openxmlformats.org/officeDocument/2006/relationships/image" Target="../media/image8.png"/><Relationship Id="rId6" Type="http://schemas.openxmlformats.org/officeDocument/2006/relationships/image" Target="../media/image3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15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33.png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5.png"/><Relationship Id="rId3" Type="http://schemas.openxmlformats.org/officeDocument/2006/relationships/image" Target="../media/image15.png"/><Relationship Id="rId2" Type="http://schemas.openxmlformats.org/officeDocument/2006/relationships/image" Target="../media/image34.png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9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3B82F6">
              <a:alpha val="1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463040" y="4206240"/>
            <a:ext cx="3291840" cy="3291840"/>
          </a:xfrm>
          <a:prstGeom prst="ellipse">
            <a:avLst/>
          </a:prstGeom>
          <a:solidFill>
            <a:srgbClr val="22D3EE">
              <a:alpha val="8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4261104" y="1051560"/>
            <a:ext cx="3657600" cy="402336"/>
          </a:xfrm>
          <a:prstGeom prst="roundRect">
            <a:avLst>
              <a:gd name="adj" fmla="val 50000"/>
            </a:avLst>
          </a:prstGeom>
          <a:solidFill>
            <a:srgbClr val="17223C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61104" y="1051560"/>
            <a:ext cx="36576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6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ENTERPRISE NETWORK SECURITY BRIEFING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10360152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IPsec </a:t>
            </a:r>
            <a:r>
              <a:rPr lang="en-US" sz="6400" b="1" dirty="0">
                <a:solidFill>
                  <a:srgbClr val="22D3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VPN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1371600" y="3063240"/>
            <a:ext cx="94457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Communication Over Untrusted Networks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3456432"/>
            <a:ext cx="944575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Protocol Theory to Live Cisco Implementation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4361688"/>
            <a:ext cx="566928" cy="566928"/>
          </a:xfrm>
          <a:prstGeom prst="ellipse">
            <a:avLst/>
          </a:prstGeom>
          <a:solidFill>
            <a:srgbClr val="3B82F6">
              <a:alpha val="22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10" name="Image 0" descr="/home/claude/icons/laptop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521" y="4509089"/>
            <a:ext cx="272125" cy="27212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366760" y="4361688"/>
            <a:ext cx="566928" cy="566928"/>
          </a:xfrm>
          <a:prstGeom prst="ellipse">
            <a:avLst/>
          </a:prstGeom>
          <a:solidFill>
            <a:srgbClr val="F5A623">
              <a:alpha val="22000"/>
            </a:srgbClr>
          </a:solidFill>
          <a:ln w="12700">
            <a:solidFill>
              <a:srgbClr val="F5A623">
                <a:alpha val="60000"/>
              </a:srgbClr>
            </a:solidFill>
            <a:prstDash val="solid"/>
          </a:ln>
        </p:spPr>
      </p:sp>
      <p:pic>
        <p:nvPicPr>
          <p:cNvPr id="12" name="Image 1" descr="/home/claude/icons/server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4161" y="4509089"/>
            <a:ext cx="272125" cy="27212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840480" y="4636008"/>
            <a:ext cx="4498848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5806440" y="4398264"/>
            <a:ext cx="457200" cy="457200"/>
          </a:xfrm>
          <a:prstGeom prst="ellipse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5" name="Image 2" descr="/home/claude/icons/lo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2" y="4517136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840480" y="4910328"/>
            <a:ext cx="449884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ENCRYPTED TUNNEL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1371600" y="6080760"/>
            <a:ext cx="944575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Cyber Security  ·  Networking  ·  Cisco IOS</a:t>
            </a:r>
            <a:endParaRPr lang="en-US" sz="1100" dirty="0"/>
          </a:p>
        </p:txBody>
      </p:sp>
      <p:sp>
        <p:nvSpPr>
          <p:cNvPr id="18" name="Text Team"/>
          <p:cNvSpPr/>
          <p:nvPr/>
        </p:nvSpPr>
        <p:spPr>
          <a:xfrm>
            <a:off x="1371600" y="6432550"/>
            <a:ext cx="944575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kern="0" spc="40" dirty="0">
                <a:solidFill>
                  <a:srgbClr val="4B58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3  ·  Mohammed Hany Mamdouh   ·   Ahmed Ehab Mohamed   ·   Ahmed Samir Ibrahim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515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8308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3B82F6">
              <a:alpha val="18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731520" y="1783080"/>
            <a:ext cx="14173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 ONE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203704"/>
            <a:ext cx="4526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Foundations &amp; Protocol Theory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329184" cy="329184"/>
          </a:xfrm>
          <a:prstGeom prst="ellipse">
            <a:avLst/>
          </a:prstGeom>
          <a:solidFill>
            <a:srgbClr val="17223C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88336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0432" y="2670048"/>
            <a:ext cx="4069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a VPN &amp; why IPsec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3095244"/>
            <a:ext cx="329184" cy="329184"/>
          </a:xfrm>
          <a:prstGeom prst="ellipse">
            <a:avLst/>
          </a:prstGeom>
          <a:solidFill>
            <a:srgbClr val="17223C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08610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3067812"/>
            <a:ext cx="4069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IPsec core protocols — AH, ESP, IKE, SA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3493008"/>
            <a:ext cx="329184" cy="329184"/>
          </a:xfrm>
          <a:prstGeom prst="ellipse">
            <a:avLst/>
          </a:prstGeom>
          <a:solidFill>
            <a:srgbClr val="17223C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483864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70432" y="3465576"/>
            <a:ext cx="4069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Transport vs Tunnel mode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3890772"/>
            <a:ext cx="329184" cy="329184"/>
          </a:xfrm>
          <a:prstGeom prst="ellipse">
            <a:avLst/>
          </a:prstGeom>
          <a:solidFill>
            <a:srgbClr val="17223C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881628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70432" y="3863340"/>
            <a:ext cx="4069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IKE phases &amp; versions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" y="4288536"/>
            <a:ext cx="329184" cy="329184"/>
          </a:xfrm>
          <a:prstGeom prst="ellipse">
            <a:avLst/>
          </a:prstGeom>
          <a:solidFill>
            <a:srgbClr val="17223C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279392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70432" y="4261104"/>
            <a:ext cx="4069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a secure tunnel is established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31520" y="4686300"/>
            <a:ext cx="329184" cy="329184"/>
          </a:xfrm>
          <a:prstGeom prst="ellipse">
            <a:avLst/>
          </a:prstGeom>
          <a:solidFill>
            <a:srgbClr val="17223C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677156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70432" y="4658868"/>
            <a:ext cx="4069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Site-to-Site vs Remote Access VPN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31520" y="5084064"/>
            <a:ext cx="329184" cy="329184"/>
          </a:xfrm>
          <a:prstGeom prst="ellipse">
            <a:avLst/>
          </a:prstGeom>
          <a:solidFill>
            <a:srgbClr val="17223C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07492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70432" y="5056632"/>
            <a:ext cx="4069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Algorithms, NAT traversal &amp; best practice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31520" y="5481828"/>
            <a:ext cx="329184" cy="329184"/>
          </a:xfrm>
          <a:prstGeom prst="ellipse">
            <a:avLst/>
          </a:prstGeom>
          <a:solidFill>
            <a:srgbClr val="17223C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472684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70432" y="5454396"/>
            <a:ext cx="4069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Advantages &amp; limitations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080760" y="150876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55080" y="178308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5A623">
              <a:alpha val="20000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6355080" y="1783080"/>
            <a:ext cx="14173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 TWO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55080" y="2203704"/>
            <a:ext cx="4526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Live Implementation — Cisco Lab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55080" y="2697480"/>
            <a:ext cx="329184" cy="329184"/>
          </a:xfrm>
          <a:prstGeom prst="ellipse">
            <a:avLst/>
          </a:prstGeom>
          <a:solidFill>
            <a:srgbClr val="17223C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2688336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793992" y="2670048"/>
            <a:ext cx="4069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Topology &amp; network setup (R1 · R2 · R3)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355080" y="3095244"/>
            <a:ext cx="329184" cy="329184"/>
          </a:xfrm>
          <a:prstGeom prst="ellipse">
            <a:avLst/>
          </a:prstGeom>
          <a:solidFill>
            <a:srgbClr val="17223C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308610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793992" y="3067812"/>
            <a:ext cx="4069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 — IKE / ISAKMP configuration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355080" y="3493008"/>
            <a:ext cx="329184" cy="329184"/>
          </a:xfrm>
          <a:prstGeom prst="ellipse">
            <a:avLst/>
          </a:prstGeom>
          <a:solidFill>
            <a:srgbClr val="17223C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3483864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793992" y="3465576"/>
            <a:ext cx="4069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 — IPsec data tunnel configuration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355080" y="3890772"/>
            <a:ext cx="329184" cy="329184"/>
          </a:xfrm>
          <a:prstGeom prst="ellipse">
            <a:avLst/>
          </a:prstGeom>
          <a:solidFill>
            <a:srgbClr val="17223C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3881628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793992" y="3863340"/>
            <a:ext cx="4069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running configuration walkthrough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6355080" y="4288536"/>
            <a:ext cx="329184" cy="329184"/>
          </a:xfrm>
          <a:prstGeom prst="ellipse">
            <a:avLst/>
          </a:prstGeom>
          <a:solidFill>
            <a:srgbClr val="17223C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55080" y="4279392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793992" y="4261104"/>
            <a:ext cx="4069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Verification &amp; active Security Associations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6355080" y="4686300"/>
            <a:ext cx="329184" cy="329184"/>
          </a:xfrm>
          <a:prstGeom prst="ellipse">
            <a:avLst/>
          </a:prstGeom>
          <a:solidFill>
            <a:srgbClr val="17223C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55080" y="4677156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793992" y="4658868"/>
            <a:ext cx="4069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insights from the lab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6355080" y="5084064"/>
            <a:ext cx="329184" cy="329184"/>
          </a:xfrm>
          <a:prstGeom prst="ellipse">
            <a:avLst/>
          </a:prstGeom>
          <a:solidFill>
            <a:srgbClr val="17223C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55080" y="507492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793992" y="5056632"/>
            <a:ext cx="4069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&amp; takeaways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IPSEC VPN  |  SECURE COMMUNICATIONS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515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a VPN?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60350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</a:t>
            </a:r>
            <a:r>
              <a:rPr lang="en-US" sz="1450" b="1" dirty="0">
                <a:solidFill>
                  <a:srgbClr val="F5F7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Virtual Private Network (VPN)</a:t>
            </a:r>
            <a:r>
              <a:rPr lang="en-US" sz="14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extends a private network across a public, untrusted network — typically the Internet — creating a logical, encrypted tunnel between two points.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2880360"/>
            <a:ext cx="457200" cy="457200"/>
          </a:xfrm>
          <a:prstGeom prst="ellipse">
            <a:avLst/>
          </a:prstGeom>
          <a:solidFill>
            <a:srgbClr val="3B82F6">
              <a:alpha val="22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6" name="Image 0" descr="/home/claude/icons/lock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99923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2862072"/>
            <a:ext cx="5394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3172968"/>
            <a:ext cx="5394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 sensitive data private while it crosses a public network.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3931920"/>
            <a:ext cx="457200" cy="457200"/>
          </a:xfrm>
          <a:prstGeom prst="ellipse">
            <a:avLst/>
          </a:prstGeom>
          <a:solidFill>
            <a:srgbClr val="3B82F6">
              <a:alpha val="22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10" name="Image 1" descr="/home/claude/icons/globe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05079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3913632"/>
            <a:ext cx="5394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Remote Access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097280" y="4224528"/>
            <a:ext cx="5394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 employees reach internal resources securely from anywhere.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57200" y="4983480"/>
            <a:ext cx="457200" cy="457200"/>
          </a:xfrm>
          <a:prstGeom prst="ellipse">
            <a:avLst/>
          </a:prstGeom>
          <a:solidFill>
            <a:srgbClr val="3B82F6">
              <a:alpha val="22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14" name="Image 2" descr="/home/claude/icons/building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510235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4965192"/>
            <a:ext cx="5394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Site Interconnection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097280" y="5276088"/>
            <a:ext cx="5394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Join branch offices or data centers as one logical network.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903720" y="1417320"/>
            <a:ext cx="4828032" cy="4709160"/>
          </a:xfrm>
          <a:prstGeom prst="roundRect">
            <a:avLst>
              <a:gd name="adj" fmla="val 1553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315200" y="2308860"/>
            <a:ext cx="566928" cy="566928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19" name="Image 3" descr="/home/claude/icons/users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2601" y="2456261"/>
            <a:ext cx="272125" cy="27212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95160" y="2948940"/>
            <a:ext cx="1234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9034272" y="2308860"/>
            <a:ext cx="566928" cy="566928"/>
          </a:xfrm>
          <a:prstGeom prst="ellipse">
            <a:avLst/>
          </a:prstGeom>
          <a:solidFill>
            <a:srgbClr val="F5A623">
              <a:alpha val="25000"/>
            </a:srgbClr>
          </a:solidFill>
          <a:ln w="12700">
            <a:solidFill>
              <a:srgbClr val="F5A623">
                <a:alpha val="60000"/>
              </a:srgbClr>
            </a:solidFill>
            <a:prstDash val="solid"/>
          </a:ln>
        </p:spPr>
      </p:sp>
      <p:pic>
        <p:nvPicPr>
          <p:cNvPr id="22" name="Image 4" descr="/home/claude/icons/globe_a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1673" y="2456261"/>
            <a:ext cx="272125" cy="27212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695944" y="2948940"/>
            <a:ext cx="1234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Internet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10753344" y="2308860"/>
            <a:ext cx="566928" cy="566928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25" name="Image 5" descr="/home/claude/icons/building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0745" y="2456261"/>
            <a:ext cx="272125" cy="27212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222992" y="2948940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Private Network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7607808" y="2592324"/>
            <a:ext cx="3419856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dash"/>
          </a:ln>
        </p:spPr>
      </p:sp>
      <p:sp>
        <p:nvSpPr>
          <p:cNvPr id="28" name="Text 20"/>
          <p:cNvSpPr/>
          <p:nvPr/>
        </p:nvSpPr>
        <p:spPr>
          <a:xfrm>
            <a:off x="7178040" y="1961388"/>
            <a:ext cx="427939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ENCRYPTED TUNNEL</a:t>
            </a:r>
            <a:endParaRPr lang="en-US" sz="850" dirty="0"/>
          </a:p>
        </p:txBody>
      </p:sp>
      <p:sp>
        <p:nvSpPr>
          <p:cNvPr id="29" name="Shape 21"/>
          <p:cNvSpPr/>
          <p:nvPr/>
        </p:nvSpPr>
        <p:spPr>
          <a:xfrm>
            <a:off x="7223760" y="3817620"/>
            <a:ext cx="4187952" cy="1417320"/>
          </a:xfrm>
          <a:prstGeom prst="roundRect">
            <a:avLst>
              <a:gd name="adj" fmla="val 5161"/>
            </a:avLst>
          </a:prstGeom>
          <a:solidFill>
            <a:srgbClr val="17223C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Text 22"/>
          <p:cNvSpPr/>
          <p:nvPr/>
        </p:nvSpPr>
        <p:spPr>
          <a:xfrm>
            <a:off x="7452360" y="4046220"/>
            <a:ext cx="3730752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Internal resources reachable as if directly connected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IPSEC VPN  |  SECURE COMMUNICATIONS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515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IPsec?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74552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IPsec (IP Security)</a:t>
            </a:r>
            <a:r>
              <a:rPr lang="en-US" sz="140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is a framework of open standards, developed by the IETF, that provides security for IP traffic. It operates at the network layer (Layer 3), protecting and authenticating IP packets between peers — without requiring changes to applications above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697480"/>
            <a:ext cx="2670048" cy="2606040"/>
          </a:xfrm>
          <a:prstGeom prst="roundRect">
            <a:avLst>
              <a:gd name="adj" fmla="val 2807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990088"/>
            <a:ext cx="566928" cy="566928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7" name="Image 0" descr="/home/claude/icons/lock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633" y="3137489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3749040"/>
            <a:ext cx="215798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Confidentiality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3232" y="4325112"/>
            <a:ext cx="2157984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Encryption hides data from unauthorized viewers.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46704" y="2697480"/>
            <a:ext cx="2670048" cy="2606040"/>
          </a:xfrm>
          <a:prstGeom prst="roundRect">
            <a:avLst>
              <a:gd name="adj" fmla="val 2807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02736" y="2990088"/>
            <a:ext cx="566928" cy="566928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12" name="Image 1" descr="/home/claude/icons/check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137" y="3137489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02736" y="3749040"/>
            <a:ext cx="215798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Integrity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02736" y="4325112"/>
            <a:ext cx="2157984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Detects if data was altered in transit.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36208" y="2697480"/>
            <a:ext cx="2670048" cy="2606040"/>
          </a:xfrm>
          <a:prstGeom prst="roundRect">
            <a:avLst>
              <a:gd name="adj" fmla="val 2807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92240" y="2990088"/>
            <a:ext cx="566928" cy="566928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17" name="Image 2" descr="/home/claude/icons/fingerprint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9641" y="3137489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2240" y="3749040"/>
            <a:ext cx="215798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Origin Authentication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92240" y="4325112"/>
            <a:ext cx="2157984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Confirms the identity of the sending peer.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125712" y="2697480"/>
            <a:ext cx="2670048" cy="2606040"/>
          </a:xfrm>
          <a:prstGeom prst="roundRect">
            <a:avLst>
              <a:gd name="adj" fmla="val 2807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81744" y="2990088"/>
            <a:ext cx="566928" cy="566928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22" name="Image 3" descr="/home/claude/icons/ban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9145" y="3137489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81744" y="3749040"/>
            <a:ext cx="215798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Anti-Replay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381744" y="4325112"/>
            <a:ext cx="2157984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Rejects old or duplicated captured packets.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553212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Defined across RFC 4301 (Security Architecture) and companion RFCs consolidated in RFC 6071.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IPSEC VPN  |  SECURE COMMUNICATIONS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515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IPsec Core Building Blocks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47088"/>
            <a:ext cx="621792" cy="621792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6" name="Image 0" descr="/home/claude/icons/clipboardCheck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186" y="2008754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2880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AH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2468880"/>
            <a:ext cx="4846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 Header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31520" y="2852928"/>
            <a:ext cx="48463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Provides data integrity and origin authentication for the IP packet. No encryption. Defined in RFC 4302; optional in the current IPsec architecture.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36792" y="155448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11112" y="1847088"/>
            <a:ext cx="621792" cy="621792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12" name="Image 1" descr="/home/claude/icons/lock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778" y="2008754"/>
            <a:ext cx="298460" cy="298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88352" y="182880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ESP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611112" y="2468880"/>
            <a:ext cx="4846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Encapsulating Security Payload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611112" y="2852928"/>
            <a:ext cx="48463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Provides confidentiality (encryption) plus optional integrity and authentication. Defined in RFC 4303; used in virtually all deployments.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406908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4361688"/>
            <a:ext cx="621792" cy="621792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18" name="Image 2" descr="/home/claude/icons/key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186" y="4523354"/>
            <a:ext cx="298460" cy="298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434340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IKE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731520" y="4983480"/>
            <a:ext cx="4846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Internet Key Exchange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731520" y="5367528"/>
            <a:ext cx="48463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Automates peer authentication and negotiates the keys and algorithms (SAs) that AH/ESP will use, so keys don't need manual configuration.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336792" y="406908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611112" y="4361688"/>
            <a:ext cx="621792" cy="621792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24" name="Image 3" descr="/home/claude/icons/handshake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2778" y="4523354"/>
            <a:ext cx="298460" cy="2984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88352" y="434340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SA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6611112" y="4983480"/>
            <a:ext cx="4846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Association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6611112" y="5367528"/>
            <a:ext cx="48463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unidirectional agreement between two peers on the protocol, algorithms, and keys used to protect a specific data flow.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IPSEC VPN  |  SECURE COMMUNICATIONS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515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AH vs ESP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17223C"/>
          </a:solidFill>
          <a:ln w="12700">
            <a:solidFill>
              <a:srgbClr val="2230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08760"/>
            <a:ext cx="55778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108192" y="1581912"/>
            <a:ext cx="2697480" cy="420624"/>
          </a:xfrm>
          <a:prstGeom prst="roundRect">
            <a:avLst>
              <a:gd name="adj" fmla="val 13043"/>
            </a:avLst>
          </a:prstGeom>
          <a:solidFill>
            <a:srgbClr val="3B82F6"/>
          </a:solidFill>
        </p:spPr>
      </p:sp>
      <p:sp>
        <p:nvSpPr>
          <p:cNvPr id="7" name="Text 5"/>
          <p:cNvSpPr/>
          <p:nvPr/>
        </p:nvSpPr>
        <p:spPr>
          <a:xfrm>
            <a:off x="6035040" y="1508760"/>
            <a:ext cx="284378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951976" y="1581912"/>
            <a:ext cx="2706624" cy="420624"/>
          </a:xfrm>
          <a:prstGeom prst="roundRect">
            <a:avLst>
              <a:gd name="adj" fmla="val 13043"/>
            </a:avLst>
          </a:prstGeom>
          <a:solidFill>
            <a:srgbClr val="22D3EE"/>
          </a:solidFill>
        </p:spPr>
      </p:sp>
      <p:sp>
        <p:nvSpPr>
          <p:cNvPr id="9" name="Text 7"/>
          <p:cNvSpPr/>
          <p:nvPr/>
        </p:nvSpPr>
        <p:spPr>
          <a:xfrm>
            <a:off x="8878824" y="1508760"/>
            <a:ext cx="2852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ESP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130552"/>
            <a:ext cx="11274552" cy="443484"/>
          </a:xfrm>
          <a:prstGeom prst="rect">
            <a:avLst/>
          </a:prstGeom>
          <a:solidFill>
            <a:srgbClr val="121B30"/>
          </a:solidFill>
        </p:spPr>
      </p:sp>
      <p:sp>
        <p:nvSpPr>
          <p:cNvPr id="11" name="Text 9"/>
          <p:cNvSpPr/>
          <p:nvPr/>
        </p:nvSpPr>
        <p:spPr>
          <a:xfrm>
            <a:off x="731520" y="2130552"/>
            <a:ext cx="5212080" cy="4434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Confidentiality (encryption)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0" y="2130552"/>
            <a:ext cx="2843784" cy="4434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71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878824" y="2130552"/>
            <a:ext cx="2852928" cy="4434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ADE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2574036"/>
            <a:ext cx="11274552" cy="443484"/>
          </a:xfrm>
          <a:prstGeom prst="rect">
            <a:avLst/>
          </a:prstGeom>
          <a:solidFill>
            <a:srgbClr val="0E1626"/>
          </a:solidFill>
        </p:spPr>
      </p:sp>
      <p:sp>
        <p:nvSpPr>
          <p:cNvPr id="15" name="Text 13"/>
          <p:cNvSpPr/>
          <p:nvPr/>
        </p:nvSpPr>
        <p:spPr>
          <a:xfrm>
            <a:off x="731520" y="2574036"/>
            <a:ext cx="5212080" cy="4434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integrity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035040" y="2574036"/>
            <a:ext cx="2843784" cy="4434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ADE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878824" y="2574036"/>
            <a:ext cx="2852928" cy="4434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ADE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11274552" cy="443484"/>
          </a:xfrm>
          <a:prstGeom prst="rect">
            <a:avLst/>
          </a:prstGeom>
          <a:solidFill>
            <a:srgbClr val="121B30"/>
          </a:solidFill>
        </p:spPr>
      </p:sp>
      <p:sp>
        <p:nvSpPr>
          <p:cNvPr id="19" name="Text 17"/>
          <p:cNvSpPr/>
          <p:nvPr/>
        </p:nvSpPr>
        <p:spPr>
          <a:xfrm>
            <a:off x="731520" y="3017520"/>
            <a:ext cx="5212080" cy="4434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Origin authentication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035040" y="3017520"/>
            <a:ext cx="2843784" cy="4434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ADE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878824" y="3017520"/>
            <a:ext cx="2852928" cy="4434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ADE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3461004"/>
            <a:ext cx="11274552" cy="443484"/>
          </a:xfrm>
          <a:prstGeom prst="rect">
            <a:avLst/>
          </a:prstGeom>
          <a:solidFill>
            <a:srgbClr val="0E1626"/>
          </a:solidFill>
        </p:spPr>
      </p:sp>
      <p:sp>
        <p:nvSpPr>
          <p:cNvPr id="23" name="Text 21"/>
          <p:cNvSpPr/>
          <p:nvPr/>
        </p:nvSpPr>
        <p:spPr>
          <a:xfrm>
            <a:off x="731520" y="3461004"/>
            <a:ext cx="5212080" cy="4434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Anti-replay protection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035040" y="3461004"/>
            <a:ext cx="2843784" cy="4434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ADE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Yes (optional)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878824" y="3461004"/>
            <a:ext cx="2852928" cy="4434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ADE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Yes (optional)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3904488"/>
            <a:ext cx="11274552" cy="443484"/>
          </a:xfrm>
          <a:prstGeom prst="rect">
            <a:avLst/>
          </a:prstGeom>
          <a:solidFill>
            <a:srgbClr val="121B30"/>
          </a:solidFill>
        </p:spPr>
      </p:sp>
      <p:sp>
        <p:nvSpPr>
          <p:cNvPr id="27" name="Text 25"/>
          <p:cNvSpPr/>
          <p:nvPr/>
        </p:nvSpPr>
        <p:spPr>
          <a:xfrm>
            <a:off x="731520" y="3904488"/>
            <a:ext cx="5212080" cy="4434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Encapsulates the payload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035040" y="3904488"/>
            <a:ext cx="2843784" cy="4434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71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878824" y="3904488"/>
            <a:ext cx="2852928" cy="4434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ADE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57200" y="4347972"/>
            <a:ext cx="11274552" cy="443484"/>
          </a:xfrm>
          <a:prstGeom prst="rect">
            <a:avLst/>
          </a:prstGeom>
          <a:solidFill>
            <a:srgbClr val="0E1626"/>
          </a:solidFill>
        </p:spPr>
      </p:sp>
      <p:sp>
        <p:nvSpPr>
          <p:cNvPr id="31" name="Text 29"/>
          <p:cNvSpPr/>
          <p:nvPr/>
        </p:nvSpPr>
        <p:spPr>
          <a:xfrm>
            <a:off x="731520" y="4347972"/>
            <a:ext cx="5212080" cy="4434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Defining RFC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035040" y="4347972"/>
            <a:ext cx="2843784" cy="4434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71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RFC 4302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878824" y="4347972"/>
            <a:ext cx="2852928" cy="4434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RFC 4303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57200" y="4791456"/>
            <a:ext cx="11274552" cy="443484"/>
          </a:xfrm>
          <a:prstGeom prst="rect">
            <a:avLst/>
          </a:prstGeom>
          <a:solidFill>
            <a:srgbClr val="121B30"/>
          </a:solidFill>
        </p:spPr>
      </p:sp>
      <p:sp>
        <p:nvSpPr>
          <p:cNvPr id="35" name="Text 33"/>
          <p:cNvSpPr/>
          <p:nvPr/>
        </p:nvSpPr>
        <p:spPr>
          <a:xfrm>
            <a:off x="731520" y="4791456"/>
            <a:ext cx="5212080" cy="4434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 today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035040" y="4791456"/>
            <a:ext cx="2843784" cy="4434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71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Optional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878824" y="4791456"/>
            <a:ext cx="2852928" cy="4434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ADE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Mandatory (MUST)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57200" y="4347972"/>
            <a:ext cx="11274552" cy="443484"/>
          </a:xfrm>
          <a:prstGeom prst="rect">
            <a:avLst/>
          </a:prstGeom>
          <a:solidFill>
            <a:srgbClr val="0E1626"/>
          </a:solidFill>
        </p:spPr>
      </p:sp>
      <p:sp>
        <p:nvSpPr>
          <p:cNvPr id="39" name="Text 37"/>
          <p:cNvSpPr/>
          <p:nvPr/>
        </p:nvSpPr>
        <p:spPr>
          <a:xfrm>
            <a:off x="731520" y="4347972"/>
            <a:ext cx="5212080" cy="4434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Defining RFC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035040" y="4347972"/>
            <a:ext cx="2843784" cy="4434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RFC 4302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8878824" y="4347972"/>
            <a:ext cx="2852928" cy="4434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RFC 4303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IPSEC VPN  |  SECURE COMMUNICATIONS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515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Transport Mode vs Tunnel Mode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623560" cy="4617720"/>
          </a:xfrm>
          <a:prstGeom prst="roundRect">
            <a:avLst>
              <a:gd name="adj" fmla="val 1584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8308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3B82F6">
              <a:alpha val="22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731520" y="1783080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TRANSPORT MODE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50749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the payload of the IP packet is protected. The original IP header stays in place. Typically used for direct, end-to-end host-to-host communication.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3931920"/>
            <a:ext cx="1371600" cy="502920"/>
          </a:xfrm>
          <a:prstGeom prst="rect">
            <a:avLst/>
          </a:prstGeom>
          <a:solidFill>
            <a:srgbClr val="17223C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93192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 Header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03120" y="3931920"/>
            <a:ext cx="310896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3931920"/>
            <a:ext cx="3108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7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Encrypted Payload (ESP)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475488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17223C"/>
          </a:solidFill>
          <a:ln w="12700">
            <a:solidFill>
              <a:srgbClr val="2230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754880"/>
            <a:ext cx="46177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for: host-to-host IPsec sessions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08192" y="1508760"/>
            <a:ext cx="5623560" cy="4617720"/>
          </a:xfrm>
          <a:prstGeom prst="roundRect">
            <a:avLst>
              <a:gd name="adj" fmla="val 1584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82512" y="178308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22D3EE">
              <a:alpha val="22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6382512" y="1783080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TUNNEL MODE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82512" y="2331720"/>
            <a:ext cx="50749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entire original IP packet is encrypted and encapsulated inside a new IP packet with a new header. Standard mode for gateway-to-gateway (site-to-site) VPNs.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82512" y="3931920"/>
            <a:ext cx="1371600" cy="502920"/>
          </a:xfrm>
          <a:prstGeom prst="rect">
            <a:avLst/>
          </a:prstGeom>
          <a:solidFill>
            <a:srgbClr val="17223C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393192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IP Header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54112" y="3931920"/>
            <a:ext cx="3337560" cy="502920"/>
          </a:xfrm>
          <a:prstGeom prst="rect">
            <a:avLst/>
          </a:prstGeom>
          <a:solidFill>
            <a:srgbClr val="22D3EE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54112" y="3931920"/>
            <a:ext cx="3337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2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Encrypted Original Packet (IP Header + Payload)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82512" y="475488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17223C"/>
          </a:solidFill>
          <a:ln w="12700">
            <a:solidFill>
              <a:srgbClr val="2230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11112" y="4754880"/>
            <a:ext cx="46177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for: site-to-site &amp; remote-access VPNs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IPSEC VPN  |  SECURE COMMUNICATIONS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MANAGEMENT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515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IKE: Phases &amp; Versions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623560" cy="4617720"/>
          </a:xfrm>
          <a:prstGeom prst="roundRect">
            <a:avLst>
              <a:gd name="adj" fmla="val 1584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64792"/>
            <a:ext cx="5074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IKEv1</a:t>
            </a:r>
            <a:r>
              <a:rPr lang="en-US" sz="1700" dirty="0">
                <a:solidFill>
                  <a:srgbClr val="6B7A9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 —  RFC 2409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731520" y="2377440"/>
            <a:ext cx="10058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2779776"/>
            <a:ext cx="46177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Authenticates the peers and builds a secure ISAKMP SA (Main Mode — protects identities, or faster Aggressive Mode).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74904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731520" y="3749040"/>
            <a:ext cx="10058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4151376"/>
            <a:ext cx="46177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 Mode uses the Phase 1 channel to negotiate the actual IPsec (AH/ESP) SAs and keying material.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65392" y="1508760"/>
            <a:ext cx="5623560" cy="4617720"/>
          </a:xfrm>
          <a:prstGeom prst="roundRect">
            <a:avLst>
              <a:gd name="adj" fmla="val 1584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39712" y="1764792"/>
            <a:ext cx="5074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D3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IKEv2</a:t>
            </a:r>
            <a:r>
              <a:rPr lang="en-US" sz="1700" dirty="0">
                <a:solidFill>
                  <a:srgbClr val="6B7A9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 —  RFC 7296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839712" y="2286000"/>
            <a:ext cx="50749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Combines ISAKMP, key exchange and negotiation into one streamlined protocol (originally RFC 4306, consolidated into RFC 7296). Not interoperable with IKEv1.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39712" y="3200400"/>
            <a:ext cx="365760" cy="365760"/>
          </a:xfrm>
          <a:prstGeom prst="ellipse">
            <a:avLst/>
          </a:prstGeom>
          <a:solidFill>
            <a:srgbClr val="22D3EE">
              <a:alpha val="22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6" name="Image 0" descr="/home/claude/icons/bolt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810" y="3295498"/>
            <a:ext cx="175565" cy="17556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333488" y="3182112"/>
            <a:ext cx="43891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Fewer round trips — faster setup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839712" y="3730752"/>
            <a:ext cx="365760" cy="365760"/>
          </a:xfrm>
          <a:prstGeom prst="ellipse">
            <a:avLst/>
          </a:prstGeom>
          <a:solidFill>
            <a:srgbClr val="22D3EE">
              <a:alpha val="22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9" name="Image 1" descr="/home/claude/icons/syncAlt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810" y="3825850"/>
            <a:ext cx="175565" cy="17556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33488" y="3712464"/>
            <a:ext cx="43891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Built-in NAT traversal &amp; Dead Peer Detection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839712" y="4261104"/>
            <a:ext cx="365760" cy="365760"/>
          </a:xfrm>
          <a:prstGeom prst="ellipse">
            <a:avLst/>
          </a:prstGeom>
          <a:solidFill>
            <a:srgbClr val="22D3EE">
              <a:alpha val="22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22" name="Image 2" descr="/home/claude/icons/key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810" y="4356202"/>
            <a:ext cx="175565" cy="17556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333488" y="4242816"/>
            <a:ext cx="43891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Native support for EAP / remote-access auth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839712" y="4791456"/>
            <a:ext cx="365760" cy="365760"/>
          </a:xfrm>
          <a:prstGeom prst="ellipse">
            <a:avLst/>
          </a:prstGeom>
          <a:solidFill>
            <a:srgbClr val="22D3EE">
              <a:alpha val="22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25" name="Image 3" descr="/home/claude/icons/route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810" y="4886554"/>
            <a:ext cx="175565" cy="17556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33488" y="4773168"/>
            <a:ext cx="43891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Mobility support via MOBIKE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IPSEC VPN  |  SECURE COMMUNICATIONS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515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a Secure Tunnel Is Established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82242" y="2011680"/>
            <a:ext cx="9224467" cy="0"/>
          </a:xfrm>
          <a:prstGeom prst="line">
            <a:avLst/>
          </a:prstGeom>
          <a:noFill/>
          <a:ln w="25400">
            <a:solidFill>
              <a:srgbClr val="2230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9634" y="1719072"/>
            <a:ext cx="585216" cy="585216"/>
          </a:xfrm>
          <a:prstGeom prst="ellipse">
            <a:avLst/>
          </a:prstGeom>
          <a:solidFill>
            <a:srgbClr val="3B82F6">
              <a:alpha val="92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6" name="Image 0" descr="/home/claude/icons/eye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791" y="1871228"/>
            <a:ext cx="280904" cy="280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2514600"/>
            <a:ext cx="2050085" cy="3246120"/>
          </a:xfrm>
          <a:prstGeom prst="roundRect">
            <a:avLst>
              <a:gd name="adj" fmla="val 3568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1792" y="265176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21792" y="3108960"/>
            <a:ext cx="1720901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5F7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Interesting Traffic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21792" y="3611880"/>
            <a:ext cx="1720901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Traffic matches a configured crypto policy (ACL) and triggers IPsec.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95751" y="1719072"/>
            <a:ext cx="585216" cy="585216"/>
          </a:xfrm>
          <a:prstGeom prst="ellipse">
            <a:avLst/>
          </a:prstGeom>
          <a:solidFill>
            <a:srgbClr val="3B82F6">
              <a:alpha val="92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12" name="Image 1" descr="/home/claude/icons/handshak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907" y="1871228"/>
            <a:ext cx="280904" cy="28090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763317" y="2514600"/>
            <a:ext cx="2050085" cy="3246120"/>
          </a:xfrm>
          <a:prstGeom prst="roundRect">
            <a:avLst>
              <a:gd name="adj" fmla="val 3568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2927909" y="265176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2927909" y="3108960"/>
            <a:ext cx="1720901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5F7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IKE Phase 1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927909" y="3611880"/>
            <a:ext cx="1720901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Peers authenticate each other and build a secure control channel.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801868" y="1719072"/>
            <a:ext cx="585216" cy="585216"/>
          </a:xfrm>
          <a:prstGeom prst="ellipse">
            <a:avLst/>
          </a:prstGeom>
          <a:solidFill>
            <a:srgbClr val="3B82F6">
              <a:alpha val="92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18" name="Image 2" descr="/home/claude/icons/exchang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4024" y="1871228"/>
            <a:ext cx="280904" cy="28090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069434" y="2514600"/>
            <a:ext cx="2050085" cy="3246120"/>
          </a:xfrm>
          <a:prstGeom prst="roundRect">
            <a:avLst>
              <a:gd name="adj" fmla="val 3568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5234026" y="265176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5234026" y="3108960"/>
            <a:ext cx="1720901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5F7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IKE Phase 2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234026" y="3611880"/>
            <a:ext cx="1720901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Peers negotiate the IPsec SA — algorithms and keying material.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8107985" y="1719072"/>
            <a:ext cx="585216" cy="585216"/>
          </a:xfrm>
          <a:prstGeom prst="ellipse">
            <a:avLst/>
          </a:prstGeom>
          <a:solidFill>
            <a:srgbClr val="F5A623">
              <a:alpha val="92000"/>
            </a:srgbClr>
          </a:solidFill>
          <a:ln w="12700">
            <a:solidFill>
              <a:srgbClr val="F5A623">
                <a:alpha val="60000"/>
              </a:srgbClr>
            </a:solidFill>
            <a:prstDash val="solid"/>
          </a:ln>
        </p:spPr>
      </p:sp>
      <p:pic>
        <p:nvPicPr>
          <p:cNvPr id="24" name="Image 3" descr="/home/claude/icons/lock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0141" y="1871228"/>
            <a:ext cx="280904" cy="280904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375550" y="2514600"/>
            <a:ext cx="2050085" cy="3246120"/>
          </a:xfrm>
          <a:prstGeom prst="roundRect">
            <a:avLst>
              <a:gd name="adj" fmla="val 3568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7540142" y="265176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7540142" y="3108960"/>
            <a:ext cx="1720901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5F7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Tunnel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7540142" y="3611880"/>
            <a:ext cx="1720901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AH/ESP now protect data using the agreed keys and algorithms.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10414102" y="1719072"/>
            <a:ext cx="585216" cy="585216"/>
          </a:xfrm>
          <a:prstGeom prst="ellipse">
            <a:avLst/>
          </a:prstGeom>
          <a:solidFill>
            <a:srgbClr val="3B82F6">
              <a:alpha val="92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30" name="Image 4" descr="/home/claude/icons/syncAlt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6258" y="1871228"/>
            <a:ext cx="280904" cy="280904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9681667" y="2514600"/>
            <a:ext cx="2050085" cy="3246120"/>
          </a:xfrm>
          <a:prstGeom prst="roundRect">
            <a:avLst>
              <a:gd name="adj" fmla="val 3568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Text 25"/>
          <p:cNvSpPr/>
          <p:nvPr/>
        </p:nvSpPr>
        <p:spPr>
          <a:xfrm>
            <a:off x="9846259" y="265176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Text 26"/>
          <p:cNvSpPr/>
          <p:nvPr/>
        </p:nvSpPr>
        <p:spPr>
          <a:xfrm>
            <a:off x="9846259" y="3108960"/>
            <a:ext cx="1720901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5F7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 Teardown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9846259" y="3611880"/>
            <a:ext cx="1720901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SAs expire or are cleared; new keys are negotiated as needed.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IPSEC VPN  |  SECURE COMMUNICATIONS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 / 24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515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Site-to-Site vs Remote Access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623560" cy="4617720"/>
          </a:xfrm>
          <a:prstGeom prst="roundRect">
            <a:avLst>
              <a:gd name="adj" fmla="val 1584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83080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3B82F6">
              <a:alpha val="22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731520" y="1783080"/>
            <a:ext cx="2514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SITE-TO-SITE VPN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50749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Connects two networks permanently through their firewalls/routers (gateways). Always uses tunnel mode. Ideal for linking branch offices or data centers.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17320" y="4197096"/>
            <a:ext cx="185166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543300" y="4197096"/>
            <a:ext cx="14859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143000" y="3977640"/>
            <a:ext cx="457200" cy="457200"/>
          </a:xfrm>
          <a:prstGeom prst="ellipse">
            <a:avLst/>
          </a:prstGeom>
          <a:solidFill>
            <a:srgbClr val="3B82F6">
              <a:alpha val="88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11" name="Image 0" descr="/home/claude/icons/building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4096512"/>
            <a:ext cx="219456" cy="2194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448056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Office A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68980" y="3977640"/>
            <a:ext cx="457200" cy="457200"/>
          </a:xfrm>
          <a:prstGeom prst="ellipse">
            <a:avLst/>
          </a:prstGeom>
          <a:solidFill>
            <a:srgbClr val="3B82F6">
              <a:alpha val="88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14" name="Image 1" descr="/home/claude/icons/server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7852" y="4096512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48940" y="448056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Gateway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029200" y="3977640"/>
            <a:ext cx="457200" cy="457200"/>
          </a:xfrm>
          <a:prstGeom prst="ellipse">
            <a:avLst/>
          </a:prstGeom>
          <a:solidFill>
            <a:srgbClr val="3B82F6">
              <a:alpha val="88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17" name="Image 2" descr="/home/claude/icons/building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72" y="4096512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09160" y="448056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Office B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731520" y="5166360"/>
            <a:ext cx="5074920" cy="457200"/>
          </a:xfrm>
          <a:prstGeom prst="roundRect">
            <a:avLst>
              <a:gd name="adj" fmla="val 16000"/>
            </a:avLst>
          </a:prstGeom>
          <a:solidFill>
            <a:srgbClr val="17223C"/>
          </a:solidFill>
          <a:ln w="12700">
            <a:solidFill>
              <a:srgbClr val="223052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68680" y="5166360"/>
            <a:ext cx="4800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Static peers  ·  Always-on  ·  Transparent to users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108192" y="1508760"/>
            <a:ext cx="5623560" cy="4617720"/>
          </a:xfrm>
          <a:prstGeom prst="roundRect">
            <a:avLst>
              <a:gd name="adj" fmla="val 1584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382512" y="1783080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22D3EE">
              <a:alpha val="22000"/>
            </a:srgbClr>
          </a:solidFill>
        </p:spPr>
      </p:sp>
      <p:sp>
        <p:nvSpPr>
          <p:cNvPr id="23" name="Text 18"/>
          <p:cNvSpPr/>
          <p:nvPr/>
        </p:nvSpPr>
        <p:spPr>
          <a:xfrm>
            <a:off x="6382512" y="1783080"/>
            <a:ext cx="2514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REMOTE ACCESS VPN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6382512" y="2331720"/>
            <a:ext cx="50749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Connects an individual client with a dynamic IP to a corporate gateway. IKE mode configuration assigns the client an internal address as part of negotiation.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7068312" y="4197096"/>
            <a:ext cx="185166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dash"/>
          </a:ln>
        </p:spPr>
      </p:sp>
      <p:sp>
        <p:nvSpPr>
          <p:cNvPr id="26" name="Shape 21"/>
          <p:cNvSpPr/>
          <p:nvPr/>
        </p:nvSpPr>
        <p:spPr>
          <a:xfrm>
            <a:off x="6793992" y="3977640"/>
            <a:ext cx="457200" cy="457200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27" name="Image 3" descr="/home/claude/icons/laptop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4096512"/>
            <a:ext cx="219456" cy="2194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473952" y="448056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Remote User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8919972" y="3977640"/>
            <a:ext cx="457200" cy="457200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30" name="Image 4" descr="/home/claude/icons/server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8844" y="4096512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599932" y="448056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Gateway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6382512" y="5166360"/>
            <a:ext cx="5074920" cy="457200"/>
          </a:xfrm>
          <a:prstGeom prst="roundRect">
            <a:avLst>
              <a:gd name="adj" fmla="val 16000"/>
            </a:avLst>
          </a:prstGeom>
          <a:solidFill>
            <a:srgbClr val="17223C"/>
          </a:solidFill>
          <a:ln w="12700">
            <a:solidFill>
              <a:srgbClr val="223052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6519672" y="5166360"/>
            <a:ext cx="4800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 peers  ·  On-demand  ·  Per-user authentication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IPSEC VPN  |  SECURE COMMUNICATIONS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CRYPTOGRAPHY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515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Algorithms &amp; Current Best Practice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602736" cy="4160520"/>
          </a:xfrm>
          <a:prstGeom prst="roundRect">
            <a:avLst>
              <a:gd name="adj" fmla="val 2030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737360"/>
            <a:ext cx="30906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Encryption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13232" y="2286000"/>
            <a:ext cx="3090672" cy="1417320"/>
          </a:xfrm>
          <a:prstGeom prst="roundRect">
            <a:avLst>
              <a:gd name="adj" fmla="val 5161"/>
            </a:avLst>
          </a:prstGeom>
          <a:solidFill>
            <a:srgbClr val="0F2A1C"/>
          </a:solidFill>
          <a:ln w="12700">
            <a:solidFill>
              <a:srgbClr val="1E52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450592"/>
            <a:ext cx="310896" cy="310896"/>
          </a:xfrm>
          <a:prstGeom prst="ellipse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pic>
        <p:nvPicPr>
          <p:cNvPr id="8" name="Image 0" descr="/home/claude/icons/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945" y="2531425"/>
            <a:ext cx="149230" cy="1492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98448" y="2423160"/>
            <a:ext cx="250545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6EF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AES-CBC / AES-GCM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96112" y="2926080"/>
            <a:ext cx="290779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BF7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128-bit minimum, 256-bit for high assurance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13232" y="3886200"/>
            <a:ext cx="3090672" cy="1417320"/>
          </a:xfrm>
          <a:prstGeom prst="roundRect">
            <a:avLst>
              <a:gd name="adj" fmla="val 5161"/>
            </a:avLst>
          </a:prstGeom>
          <a:solidFill>
            <a:srgbClr val="2B1414"/>
          </a:solidFill>
          <a:ln w="12700">
            <a:solidFill>
              <a:srgbClr val="5C262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96112" y="4050792"/>
            <a:ext cx="310896" cy="310896"/>
          </a:xfrm>
          <a:prstGeom prst="ellipse">
            <a:avLst/>
          </a:prstGeom>
          <a:solidFill>
            <a:srgbClr val="F87171">
              <a:alpha val="85000"/>
            </a:srgbClr>
          </a:solidFill>
          <a:ln w="12700">
            <a:solidFill>
              <a:srgbClr val="F87171">
                <a:alpha val="60000"/>
              </a:srgbClr>
            </a:solidFill>
            <a:prstDash val="solid"/>
          </a:ln>
        </p:spPr>
      </p:sp>
      <p:pic>
        <p:nvPicPr>
          <p:cNvPr id="13" name="Image 1" descr="/home/claude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945" y="4131625"/>
            <a:ext cx="149230" cy="1492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98448" y="4023360"/>
            <a:ext cx="250545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5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3DES, DES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96112" y="4526280"/>
            <a:ext cx="290779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ECAC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longer recommended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288536" y="1508760"/>
            <a:ext cx="3602736" cy="4160520"/>
          </a:xfrm>
          <a:prstGeom prst="roundRect">
            <a:avLst>
              <a:gd name="adj" fmla="val 2030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544568" y="1737360"/>
            <a:ext cx="30906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Integrity</a:t>
            </a:r>
            <a:endParaRPr lang="en-US" sz="1550" dirty="0"/>
          </a:p>
        </p:txBody>
      </p:sp>
      <p:sp>
        <p:nvSpPr>
          <p:cNvPr id="18" name="Shape 14"/>
          <p:cNvSpPr/>
          <p:nvPr/>
        </p:nvSpPr>
        <p:spPr>
          <a:xfrm>
            <a:off x="4544568" y="2286000"/>
            <a:ext cx="3090672" cy="1417320"/>
          </a:xfrm>
          <a:prstGeom prst="roundRect">
            <a:avLst>
              <a:gd name="adj" fmla="val 5161"/>
            </a:avLst>
          </a:prstGeom>
          <a:solidFill>
            <a:srgbClr val="0F2A1C"/>
          </a:solidFill>
          <a:ln w="12700">
            <a:solidFill>
              <a:srgbClr val="1E523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727448" y="2450592"/>
            <a:ext cx="310896" cy="310896"/>
          </a:xfrm>
          <a:prstGeom prst="ellipse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pic>
        <p:nvPicPr>
          <p:cNvPr id="20" name="Image 2" descr="/home/claude/icons/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281" y="2531425"/>
            <a:ext cx="149230" cy="14923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29784" y="2423160"/>
            <a:ext cx="250545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6EF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HMAC-SHA-256 / 384 / 512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727448" y="2926080"/>
            <a:ext cx="290779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BF7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Recommended replacement for SHA-1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544568" y="3886200"/>
            <a:ext cx="3090672" cy="1417320"/>
          </a:xfrm>
          <a:prstGeom prst="roundRect">
            <a:avLst>
              <a:gd name="adj" fmla="val 5161"/>
            </a:avLst>
          </a:prstGeom>
          <a:solidFill>
            <a:srgbClr val="2B1414"/>
          </a:solidFill>
          <a:ln w="12700">
            <a:solidFill>
              <a:srgbClr val="5C2626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727448" y="4050792"/>
            <a:ext cx="310896" cy="310896"/>
          </a:xfrm>
          <a:prstGeom prst="ellipse">
            <a:avLst/>
          </a:prstGeom>
          <a:solidFill>
            <a:srgbClr val="F87171">
              <a:alpha val="85000"/>
            </a:srgbClr>
          </a:solidFill>
          <a:ln w="12700">
            <a:solidFill>
              <a:srgbClr val="F87171">
                <a:alpha val="60000"/>
              </a:srgbClr>
            </a:solidFill>
            <a:prstDash val="solid"/>
          </a:ln>
        </p:spPr>
      </p:sp>
      <p:pic>
        <p:nvPicPr>
          <p:cNvPr id="25" name="Image 3" descr="/home/claude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281" y="4131625"/>
            <a:ext cx="149230" cy="14923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129784" y="4023360"/>
            <a:ext cx="250545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5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HMAC-MD5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727448" y="4526280"/>
            <a:ext cx="290779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ECAC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Avoid for new deployments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8119872" y="1508760"/>
            <a:ext cx="3602736" cy="4160520"/>
          </a:xfrm>
          <a:prstGeom prst="roundRect">
            <a:avLst>
              <a:gd name="adj" fmla="val 2030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8375904" y="1737360"/>
            <a:ext cx="30906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Exchange (DH)</a:t>
            </a:r>
            <a:endParaRPr lang="en-US" sz="1550" dirty="0"/>
          </a:p>
        </p:txBody>
      </p:sp>
      <p:sp>
        <p:nvSpPr>
          <p:cNvPr id="30" name="Shape 24"/>
          <p:cNvSpPr/>
          <p:nvPr/>
        </p:nvSpPr>
        <p:spPr>
          <a:xfrm>
            <a:off x="8375904" y="2286000"/>
            <a:ext cx="3090672" cy="1417320"/>
          </a:xfrm>
          <a:prstGeom prst="roundRect">
            <a:avLst>
              <a:gd name="adj" fmla="val 5161"/>
            </a:avLst>
          </a:prstGeom>
          <a:solidFill>
            <a:srgbClr val="0F2A1C"/>
          </a:solidFill>
          <a:ln w="12700">
            <a:solidFill>
              <a:srgbClr val="1E5236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8558784" y="2450592"/>
            <a:ext cx="310896" cy="310896"/>
          </a:xfrm>
          <a:prstGeom prst="ellipse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pic>
        <p:nvPicPr>
          <p:cNvPr id="32" name="Image 4" descr="/home/claude/icons/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9617" y="2531425"/>
            <a:ext cx="149230" cy="14923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961120" y="2423160"/>
            <a:ext cx="250545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6EF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14+ (2048-bit) / ECDH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8558784" y="2926080"/>
            <a:ext cx="290779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BF7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Recommended minimum since 2013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8375904" y="3886200"/>
            <a:ext cx="3090672" cy="1417320"/>
          </a:xfrm>
          <a:prstGeom prst="roundRect">
            <a:avLst>
              <a:gd name="adj" fmla="val 5161"/>
            </a:avLst>
          </a:prstGeom>
          <a:solidFill>
            <a:srgbClr val="2B1414"/>
          </a:solidFill>
          <a:ln w="12700">
            <a:solidFill>
              <a:srgbClr val="5C2626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558784" y="4050792"/>
            <a:ext cx="310896" cy="310896"/>
          </a:xfrm>
          <a:prstGeom prst="ellipse">
            <a:avLst/>
          </a:prstGeom>
          <a:solidFill>
            <a:srgbClr val="F87171">
              <a:alpha val="85000"/>
            </a:srgbClr>
          </a:solidFill>
          <a:ln w="12700">
            <a:solidFill>
              <a:srgbClr val="F87171">
                <a:alpha val="60000"/>
              </a:srgbClr>
            </a:solidFill>
            <a:prstDash val="solid"/>
          </a:ln>
        </p:spPr>
      </p:sp>
      <p:pic>
        <p:nvPicPr>
          <p:cNvPr id="37" name="Image 5" descr="/home/claude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9617" y="4131625"/>
            <a:ext cx="149230" cy="14923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961120" y="4023360"/>
            <a:ext cx="250545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5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Groups 1, 2, 5 (≤ 1536-bit)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8558784" y="4526280"/>
            <a:ext cx="290779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ECAC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 weak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457200" y="580644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Guidance reflects Cisco IOS XE hardening (17.11.1a+) and IETF cryptographic algorithm requirement RFCs.</a:t>
            </a:r>
            <a:endParaRPr lang="en-US" sz="1050" dirty="0"/>
          </a:p>
        </p:txBody>
      </p:sp>
      <p:sp>
        <p:nvSpPr>
          <p:cNvPr id="41" name="Text 33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IPSEC VPN  |  SECURE COMMUNICATIONS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PRACTICAL CONSIDERATIONS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515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NAT Traversal &amp; Firewall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623560" cy="3063240"/>
          </a:xfrm>
          <a:prstGeom prst="roundRect">
            <a:avLst>
              <a:gd name="adj" fmla="val 2388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37360"/>
            <a:ext cx="5074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717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5074920" cy="2194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Address Translation (NAT) rewrites IP/port information in packet headers. This breaks AH's integrity check and complicates ESP, since NAT devices historically expect TCP/UDP ports that ESP alone does not provide.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65392" y="1508760"/>
            <a:ext cx="5623560" cy="3063240"/>
          </a:xfrm>
          <a:prstGeom prst="roundRect">
            <a:avLst>
              <a:gd name="adj" fmla="val 2388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39712" y="1737360"/>
            <a:ext cx="5074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DE8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Fix: NAT-T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39712" y="2240280"/>
            <a:ext cx="5074920" cy="2194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NAT-Traversal (RFC 3947 for IKE negotiation, RFC 3948 for encapsulation) detects NAT devices between peers and wraps ESP packets inside UDP so they can pass through the NAT unmodified.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4846320"/>
            <a:ext cx="11274552" cy="1234440"/>
          </a:xfrm>
          <a:prstGeom prst="roundRect">
            <a:avLst>
              <a:gd name="adj" fmla="val 5926"/>
            </a:avLst>
          </a:prstGeom>
          <a:solidFill>
            <a:srgbClr val="17223C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4992624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REQUIRED FIREWALL RULES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5321808"/>
            <a:ext cx="256032" cy="256032"/>
          </a:xfrm>
          <a:prstGeom prst="ellipse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3" name="Image 0" descr="/home/claude/icons/check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88" y="5388376"/>
            <a:ext cx="122895" cy="12289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97280" y="530352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Allow UDP port 500 (IKE)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26480" y="5321808"/>
            <a:ext cx="256032" cy="256032"/>
          </a:xfrm>
          <a:prstGeom prst="ellipse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6" name="Image 1" descr="/home/claude/icons/check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3048" y="5388376"/>
            <a:ext cx="122895" cy="12289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92240" y="530352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Allow UDP port 4500 when NAT-T is used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31520" y="5687568"/>
            <a:ext cx="256032" cy="256032"/>
          </a:xfrm>
          <a:prstGeom prst="ellipse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9" name="Image 2" descr="/home/claude/icons/check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88" y="5754136"/>
            <a:ext cx="122895" cy="12289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97280" y="566928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Allow ESP — IP protocol 50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126480" y="5687568"/>
            <a:ext cx="256032" cy="256032"/>
          </a:xfrm>
          <a:prstGeom prst="ellipse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22" name="Image 3" descr="/home/claude/icons/check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3048" y="5754136"/>
            <a:ext cx="122895" cy="12289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92240" y="566928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Allow AH — IP protocol 51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217920"/>
            <a:ext cx="1127455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Recommendation: use static NAT and apply it before IPsec encapsulation whenever possible.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IPSEC VPN  |  SECURE COMMUNICATIONS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515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Advantages &amp;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623560" cy="4617720"/>
          </a:xfrm>
          <a:prstGeom prst="roundRect">
            <a:avLst>
              <a:gd name="adj" fmla="val 1584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pic>
        <p:nvPicPr>
          <p:cNvPr id="6" name="Image 0" descr="/home/claude/icons/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190195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8288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6EFA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31520" y="2560320"/>
            <a:ext cx="292608" cy="292608"/>
          </a:xfrm>
          <a:prstGeom prst="ellipse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pic>
        <p:nvPicPr>
          <p:cNvPr id="9" name="Image 1" descr="/home/claude/icons/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98" y="2636398"/>
            <a:ext cx="140452" cy="1404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2523744"/>
            <a:ext cx="4160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Strong, standards-based security services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31520" y="3401568"/>
            <a:ext cx="292608" cy="292608"/>
          </a:xfrm>
          <a:prstGeom prst="ellipse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pic>
        <p:nvPicPr>
          <p:cNvPr id="12" name="Image 2" descr="/home/claude/icons/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98" y="3477646"/>
            <a:ext cx="140452" cy="1404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70432" y="3364992"/>
            <a:ext cx="4160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Transparent to applications — no app changes needed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31520" y="4242816"/>
            <a:ext cx="292608" cy="292608"/>
          </a:xfrm>
          <a:prstGeom prst="ellipse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pic>
        <p:nvPicPr>
          <p:cNvPr id="15" name="Image 3" descr="/home/claude/icons/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98" y="4318894"/>
            <a:ext cx="140452" cy="14045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70432" y="4206240"/>
            <a:ext cx="4160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Widely supported across vendors &amp; platforms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731520" y="5084064"/>
            <a:ext cx="292608" cy="292608"/>
          </a:xfrm>
          <a:prstGeom prst="ellipse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pic>
        <p:nvPicPr>
          <p:cNvPr id="18" name="Image 4" descr="/home/claude/icons/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98" y="5160142"/>
            <a:ext cx="140452" cy="14045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70432" y="5047488"/>
            <a:ext cx="4160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Protects any IP traffic, not just a single app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6565392" y="1508760"/>
            <a:ext cx="5623560" cy="4617720"/>
          </a:xfrm>
          <a:prstGeom prst="roundRect">
            <a:avLst>
              <a:gd name="adj" fmla="val 1584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6839712" y="1783080"/>
            <a:ext cx="457200" cy="457200"/>
          </a:xfrm>
          <a:prstGeom prst="ellipse">
            <a:avLst/>
          </a:prstGeom>
          <a:solidFill>
            <a:srgbClr val="F87171">
              <a:alpha val="85000"/>
            </a:srgbClr>
          </a:solidFill>
          <a:ln w="12700">
            <a:solidFill>
              <a:srgbClr val="F87171">
                <a:alpha val="60000"/>
              </a:srgbClr>
            </a:solidFill>
            <a:prstDash val="solid"/>
          </a:ln>
        </p:spPr>
      </p:sp>
      <p:pic>
        <p:nvPicPr>
          <p:cNvPr id="22" name="Image 5" descr="/home/claude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584" y="1901952"/>
            <a:ext cx="219456" cy="21945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434072" y="18288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CA5A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24" name="Shape 16"/>
          <p:cNvSpPr/>
          <p:nvPr/>
        </p:nvSpPr>
        <p:spPr>
          <a:xfrm>
            <a:off x="6839712" y="2560320"/>
            <a:ext cx="292608" cy="292608"/>
          </a:xfrm>
          <a:prstGeom prst="ellipse">
            <a:avLst/>
          </a:prstGeom>
          <a:solidFill>
            <a:srgbClr val="F87171">
              <a:alpha val="80000"/>
            </a:srgbClr>
          </a:solidFill>
          <a:ln w="12700">
            <a:solidFill>
              <a:srgbClr val="F87171">
                <a:alpha val="60000"/>
              </a:srgbClr>
            </a:solidFill>
            <a:prstDash val="solid"/>
          </a:ln>
        </p:spPr>
      </p:sp>
      <p:pic>
        <p:nvPicPr>
          <p:cNvPr id="25" name="Image 6" descr="/home/claude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790" y="2636398"/>
            <a:ext cx="140452" cy="14045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278624" y="2523744"/>
            <a:ext cx="4160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Configuration complexity, especially at scale</a:t>
            </a:r>
            <a:endParaRPr lang="en-US" sz="1250" dirty="0"/>
          </a:p>
        </p:txBody>
      </p:sp>
      <p:sp>
        <p:nvSpPr>
          <p:cNvPr id="27" name="Shape 18"/>
          <p:cNvSpPr/>
          <p:nvPr/>
        </p:nvSpPr>
        <p:spPr>
          <a:xfrm>
            <a:off x="6839712" y="3401568"/>
            <a:ext cx="292608" cy="292608"/>
          </a:xfrm>
          <a:prstGeom prst="ellipse">
            <a:avLst/>
          </a:prstGeom>
          <a:solidFill>
            <a:srgbClr val="F87171">
              <a:alpha val="80000"/>
            </a:srgbClr>
          </a:solidFill>
          <a:ln w="12700">
            <a:solidFill>
              <a:srgbClr val="F87171">
                <a:alpha val="60000"/>
              </a:srgbClr>
            </a:solidFill>
            <a:prstDash val="solid"/>
          </a:ln>
        </p:spPr>
      </p:sp>
      <p:pic>
        <p:nvPicPr>
          <p:cNvPr id="28" name="Image 7" descr="/home/claude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790" y="3477646"/>
            <a:ext cx="140452" cy="14045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7278624" y="3364992"/>
            <a:ext cx="4160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 compatibility requires extra handling</a:t>
            </a:r>
            <a:endParaRPr lang="en-US" sz="1250" dirty="0"/>
          </a:p>
        </p:txBody>
      </p:sp>
      <p:sp>
        <p:nvSpPr>
          <p:cNvPr id="30" name="Shape 20"/>
          <p:cNvSpPr/>
          <p:nvPr/>
        </p:nvSpPr>
        <p:spPr>
          <a:xfrm>
            <a:off x="6839712" y="4242816"/>
            <a:ext cx="292608" cy="292608"/>
          </a:xfrm>
          <a:prstGeom prst="ellipse">
            <a:avLst/>
          </a:prstGeom>
          <a:solidFill>
            <a:srgbClr val="F87171">
              <a:alpha val="80000"/>
            </a:srgbClr>
          </a:solidFill>
          <a:ln w="12700">
            <a:solidFill>
              <a:srgbClr val="F87171">
                <a:alpha val="60000"/>
              </a:srgbClr>
            </a:solidFill>
            <a:prstDash val="solid"/>
          </a:ln>
        </p:spPr>
      </p:sp>
      <p:pic>
        <p:nvPicPr>
          <p:cNvPr id="31" name="Image 8" descr="/home/claude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790" y="4318894"/>
            <a:ext cx="140452" cy="14045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278624" y="4206240"/>
            <a:ext cx="4160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Encryption/decryption adds processing overhead</a:t>
            </a:r>
            <a:endParaRPr lang="en-US" sz="1250" dirty="0"/>
          </a:p>
        </p:txBody>
      </p:sp>
      <p:sp>
        <p:nvSpPr>
          <p:cNvPr id="33" name="Shape 22"/>
          <p:cNvSpPr/>
          <p:nvPr/>
        </p:nvSpPr>
        <p:spPr>
          <a:xfrm>
            <a:off x="6839712" y="5084064"/>
            <a:ext cx="292608" cy="292608"/>
          </a:xfrm>
          <a:prstGeom prst="ellipse">
            <a:avLst/>
          </a:prstGeom>
          <a:solidFill>
            <a:srgbClr val="F87171">
              <a:alpha val="80000"/>
            </a:srgbClr>
          </a:solidFill>
          <a:ln w="12700">
            <a:solidFill>
              <a:srgbClr val="F87171">
                <a:alpha val="60000"/>
              </a:srgbClr>
            </a:solidFill>
            <a:prstDash val="solid"/>
          </a:ln>
        </p:spPr>
      </p:sp>
      <p:pic>
        <p:nvPicPr>
          <p:cNvPr id="34" name="Image 9" descr="/home/claude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790" y="5160142"/>
            <a:ext cx="140452" cy="140452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7278624" y="5047488"/>
            <a:ext cx="4160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Designed for unicast; multicast needs extensions</a:t>
            </a:r>
            <a:endParaRPr lang="en-US" sz="1250" dirty="0"/>
          </a:p>
        </p:txBody>
      </p:sp>
      <p:sp>
        <p:nvSpPr>
          <p:cNvPr id="36" name="Text 24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IPSEC VPN  |  SECURE COMMUNICATIONS</a:t>
            </a:r>
            <a:endParaRPr lang="en-US" sz="900" dirty="0"/>
          </a:p>
        </p:txBody>
      </p:sp>
      <p:sp>
        <p:nvSpPr>
          <p:cNvPr id="37" name="Text 25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3B82F6">
              <a:alpha val="12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22D3EE">
              <a:alpha val="9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4956048" y="196596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17223C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56048" y="1965960"/>
            <a:ext cx="2286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5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 TWO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103601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Theory to Practice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371600" y="3429000"/>
            <a:ext cx="94457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Site-to-Site IPsec VPN Implementation on Cisco IOS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71320" y="434340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1320" y="4343400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Topology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47592" y="434340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47592" y="4343400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IKE Phase 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23864" y="434340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23864" y="4343400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IPsec Phase 2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400136" y="434340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00136" y="4343400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Verification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IPSEC VPN  |  SECURE COMMUNICATIONS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515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Lab Topology &amp; Network Setup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74552" cy="2788920"/>
          </a:xfrm>
          <a:prstGeom prst="roundRect">
            <a:avLst>
              <a:gd name="adj" fmla="val 2623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0" y="1371600"/>
            <a:ext cx="457200" cy="45720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6" name="Image 0" descr="/home/claude/icons/laptop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14904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856232"/>
            <a:ext cx="1188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PC-A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0085832" y="1371600"/>
            <a:ext cx="457200" cy="457200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>
                <a:alpha val="60000"/>
              </a:srgbClr>
            </a:solidFill>
            <a:prstDash val="solid"/>
          </a:ln>
        </p:spPr>
      </p:sp>
      <p:pic>
        <p:nvPicPr>
          <p:cNvPr id="9" name="Image 1" descr="/home/claude/icons/laptop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149047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720072" y="1856232"/>
            <a:ext cx="1188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PC-C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1874520" y="1828800"/>
            <a:ext cx="0" cy="320040"/>
          </a:xfrm>
          <a:prstGeom prst="line">
            <a:avLst/>
          </a:prstGeom>
          <a:noFill/>
          <a:ln w="19050">
            <a:solidFill>
              <a:srgbClr val="22305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0314432" y="1828800"/>
            <a:ext cx="0" cy="320040"/>
          </a:xfrm>
          <a:prstGeom prst="line">
            <a:avLst/>
          </a:prstGeom>
          <a:noFill/>
          <a:ln w="19050">
            <a:solidFill>
              <a:srgbClr val="22305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563624" y="2423160"/>
            <a:ext cx="621792" cy="621792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14" name="Image 2" descr="/home/claude/icons/server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5290" y="2584826"/>
            <a:ext cx="298460" cy="29846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783580" y="2423160"/>
            <a:ext cx="621792" cy="621792"/>
          </a:xfrm>
          <a:prstGeom prst="ellipse">
            <a:avLst/>
          </a:prstGeom>
          <a:solidFill>
            <a:srgbClr val="9AA7BD">
              <a:alpha val="22000"/>
            </a:srgbClr>
          </a:solidFill>
          <a:ln w="12700">
            <a:solidFill>
              <a:srgbClr val="9AA7BD">
                <a:alpha val="60000"/>
              </a:srgbClr>
            </a:solidFill>
            <a:prstDash val="solid"/>
          </a:ln>
        </p:spPr>
      </p:sp>
      <p:pic>
        <p:nvPicPr>
          <p:cNvPr id="16" name="Image 3" descr="/home/claude/icons/cloud_sl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5246" y="2584826"/>
            <a:ext cx="298460" cy="29846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0003536" y="2423160"/>
            <a:ext cx="621792" cy="621792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60000"/>
              </a:srgbClr>
            </a:solidFill>
            <a:prstDash val="solid"/>
          </a:ln>
        </p:spPr>
      </p:sp>
      <p:pic>
        <p:nvPicPr>
          <p:cNvPr id="18" name="Image 4" descr="/home/claude/icons/server_a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5202" y="2584826"/>
            <a:ext cx="298460" cy="29846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2185416" y="2734056"/>
            <a:ext cx="3598164" cy="0"/>
          </a:xfrm>
          <a:prstGeom prst="line">
            <a:avLst/>
          </a:prstGeom>
          <a:noFill/>
          <a:ln w="25400">
            <a:solidFill>
              <a:srgbClr val="223052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6405372" y="2734056"/>
            <a:ext cx="3598164" cy="0"/>
          </a:xfrm>
          <a:prstGeom prst="line">
            <a:avLst/>
          </a:prstGeom>
          <a:noFill/>
          <a:ln w="25400">
            <a:solidFill>
              <a:srgbClr val="223052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1874520" y="1920240"/>
            <a:ext cx="843991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dash"/>
          </a:ln>
        </p:spPr>
      </p:sp>
      <p:sp>
        <p:nvSpPr>
          <p:cNvPr id="22" name="Text 15"/>
          <p:cNvSpPr/>
          <p:nvPr/>
        </p:nvSpPr>
        <p:spPr>
          <a:xfrm>
            <a:off x="1874520" y="1645920"/>
            <a:ext cx="843991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IPsec TUNNEL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051560" y="2807208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7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R1 — Branch A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1051560" y="3044952"/>
            <a:ext cx="1645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192.168.1.0/24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5271516" y="2807208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7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R2 — WAN / ISP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5271516" y="3044952"/>
            <a:ext cx="1645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Pass-through only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9491472" y="2807208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7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R3 — Branch B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9491472" y="3044952"/>
            <a:ext cx="1645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192.168.3.0/24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457200" y="4526280"/>
            <a:ext cx="2724912" cy="1508760"/>
          </a:xfrm>
          <a:prstGeom prst="roundRect">
            <a:avLst>
              <a:gd name="adj" fmla="val 4848"/>
            </a:avLst>
          </a:prstGeom>
          <a:solidFill>
            <a:srgbClr val="17223C"/>
          </a:solidFill>
          <a:ln w="12700">
            <a:solidFill>
              <a:srgbClr val="22305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0080" y="4690872"/>
            <a:ext cx="365760" cy="365760"/>
          </a:xfrm>
          <a:prstGeom prst="ellipse">
            <a:avLst/>
          </a:prstGeom>
          <a:solidFill>
            <a:srgbClr val="3B82F6">
              <a:alpha val="22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31" name="Image 5" descr="/home/claude/icons/building_cy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178" y="4785970"/>
            <a:ext cx="175565" cy="17556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97280" y="4672584"/>
            <a:ext cx="1901952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R1 (Branch A)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640080" y="5148072"/>
            <a:ext cx="2359152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LAN 192.168.1.0/24 hosting PC-A.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3337560" y="4526280"/>
            <a:ext cx="2724912" cy="1508760"/>
          </a:xfrm>
          <a:prstGeom prst="roundRect">
            <a:avLst>
              <a:gd name="adj" fmla="val 4848"/>
            </a:avLst>
          </a:prstGeom>
          <a:solidFill>
            <a:srgbClr val="17223C"/>
          </a:solidFill>
          <a:ln w="12700">
            <a:solidFill>
              <a:srgbClr val="223052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3520440" y="4690872"/>
            <a:ext cx="365760" cy="365760"/>
          </a:xfrm>
          <a:prstGeom prst="ellipse">
            <a:avLst/>
          </a:prstGeom>
          <a:solidFill>
            <a:srgbClr val="3B82F6">
              <a:alpha val="22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36" name="Image 6" descr="/home/claude/icons/cloud_cy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5538" y="4785970"/>
            <a:ext cx="175565" cy="17556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3977640" y="4672584"/>
            <a:ext cx="1901952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R2 (WAN ISP)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3520440" y="5148072"/>
            <a:ext cx="2359152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Intermediary router connecting R1 and R3 without VPN awareness.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6217920" y="4526280"/>
            <a:ext cx="2724912" cy="1508760"/>
          </a:xfrm>
          <a:prstGeom prst="roundRect">
            <a:avLst>
              <a:gd name="adj" fmla="val 4848"/>
            </a:avLst>
          </a:prstGeom>
          <a:solidFill>
            <a:srgbClr val="17223C"/>
          </a:solidFill>
          <a:ln w="12700">
            <a:solidFill>
              <a:srgbClr val="223052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6400800" y="4690872"/>
            <a:ext cx="365760" cy="365760"/>
          </a:xfrm>
          <a:prstGeom prst="ellipse">
            <a:avLst/>
          </a:prstGeom>
          <a:solidFill>
            <a:srgbClr val="3B82F6">
              <a:alpha val="22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41" name="Image 7" descr="/home/claude/icons/building_cy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5898" y="4785970"/>
            <a:ext cx="175565" cy="175565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858000" y="4672584"/>
            <a:ext cx="1901952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R3 (Branch B)</a:t>
            </a:r>
            <a:endParaRPr lang="en-US" sz="1150" dirty="0"/>
          </a:p>
        </p:txBody>
      </p:sp>
      <p:sp>
        <p:nvSpPr>
          <p:cNvPr id="43" name="Text 33"/>
          <p:cNvSpPr/>
          <p:nvPr/>
        </p:nvSpPr>
        <p:spPr>
          <a:xfrm>
            <a:off x="6400800" y="5148072"/>
            <a:ext cx="2359152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LAN 192.168.3.0/24 hosting PC-C.</a:t>
            </a:r>
            <a:endParaRPr lang="en-US" sz="950" dirty="0"/>
          </a:p>
        </p:txBody>
      </p:sp>
      <p:sp>
        <p:nvSpPr>
          <p:cNvPr id="44" name="Shape 34"/>
          <p:cNvSpPr/>
          <p:nvPr/>
        </p:nvSpPr>
        <p:spPr>
          <a:xfrm>
            <a:off x="9098280" y="4526280"/>
            <a:ext cx="2724912" cy="1508760"/>
          </a:xfrm>
          <a:prstGeom prst="roundRect">
            <a:avLst>
              <a:gd name="adj" fmla="val 4848"/>
            </a:avLst>
          </a:prstGeom>
          <a:solidFill>
            <a:srgbClr val="17223C"/>
          </a:solidFill>
          <a:ln w="12700">
            <a:solidFill>
              <a:srgbClr val="223052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9281160" y="4690872"/>
            <a:ext cx="365760" cy="365760"/>
          </a:xfrm>
          <a:prstGeom prst="ellipse">
            <a:avLst/>
          </a:prstGeom>
          <a:solidFill>
            <a:srgbClr val="3B82F6">
              <a:alpha val="22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46" name="Image 8" descr="/home/claude/icons/route_cya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6258" y="4785970"/>
            <a:ext cx="175565" cy="175565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9738360" y="4672584"/>
            <a:ext cx="1901952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Routing Base</a:t>
            </a:r>
            <a:endParaRPr lang="en-US" sz="1150" dirty="0"/>
          </a:p>
        </p:txBody>
      </p:sp>
      <p:sp>
        <p:nvSpPr>
          <p:cNvPr id="48" name="Text 37"/>
          <p:cNvSpPr/>
          <p:nvPr/>
        </p:nvSpPr>
        <p:spPr>
          <a:xfrm>
            <a:off x="9281160" y="5148072"/>
            <a:ext cx="2359152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OSPF Area 0 enabled across all routers for underlying reachability.</a:t>
            </a:r>
            <a:endParaRPr lang="en-US" sz="950" dirty="0"/>
          </a:p>
        </p:txBody>
      </p:sp>
      <p:sp>
        <p:nvSpPr>
          <p:cNvPr id="49" name="Text 38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IPSEC VPN  |  SECURE COMMUNICATIONS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Eyebrow"/>
          <p:cNvSpPr/>
          <p:nvPr/>
        </p:nvSpPr>
        <p:spPr>
          <a:xfrm>
            <a:off x="457200" y="384048"/>
            <a:ext cx="6400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0" kern="0" spc="22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IMPLEMENTATION</a:t>
            </a:r>
            <a:endParaRPr lang="en-US" sz="1100" dirty="0"/>
          </a:p>
        </p:txBody>
      </p:sp>
      <p:sp>
        <p:nvSpPr>
          <p:cNvPr id="3" name="Title"/>
          <p:cNvSpPr/>
          <p:nvPr/>
        </p:nvSpPr>
        <p:spPr>
          <a:xfrm>
            <a:off x="457200" y="676656"/>
            <a:ext cx="98000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i="0" kern="0" spc="0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Live Lab Evidence — Topology &amp; Connectivity</a:t>
            </a:r>
            <a:endParaRPr lang="en-US" sz="2800" dirty="0"/>
          </a:p>
        </p:txBody>
      </p:sp>
      <p:sp>
        <p:nvSpPr>
          <p:cNvPr id="4" name="Pill4"/>
          <p:cNvSpPr/>
          <p:nvPr/>
        </p:nvSpPr>
        <p:spPr>
          <a:xfrm>
            <a:off x="9182360" y="410400"/>
            <a:ext cx="2552440" cy="380000"/>
          </a:xfrm>
          <a:prstGeom prst="roundRect">
            <a:avLst>
              <a:gd name="adj" fmla="val 50000"/>
            </a:avLst>
          </a:prstGeom>
          <a:solidFill>
            <a:srgbClr val="4ADE80">
              <a:alpha val="1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PillText5"/>
          <p:cNvSpPr/>
          <p:nvPr/>
        </p:nvSpPr>
        <p:spPr>
          <a:xfrm>
            <a:off x="9182360" y="410400"/>
            <a:ext cx="2552440" cy="38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0" kern="0" spc="140" dirty="0">
                <a:solidFill>
                  <a:srgbClr val="4ADE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LAB EVIDENCE</a:t>
            </a:r>
            <a:endParaRPr lang="en-US" sz="900" dirty="0"/>
          </a:p>
        </p:txBody>
      </p:sp>
      <p:sp>
        <p:nvSpPr>
          <p:cNvPr id="6" name="Subtitle"/>
          <p:cNvSpPr/>
          <p:nvPr/>
        </p:nvSpPr>
        <p:spPr>
          <a:xfrm>
            <a:off x="457200" y="1362360"/>
            <a:ext cx="10515600" cy="32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0" i="1" kern="0" spc="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Captured directly from the Cisco Packet Tracer implementation before the IPsec tunnel is configured.</a:t>
            </a:r>
            <a:endParaRPr lang="en-US" sz="1200" dirty="0"/>
          </a:p>
        </p:txBody>
      </p:sp>
      <p:sp>
        <p:nvSpPr>
          <p:cNvPr id="7" name="Card Left"/>
          <p:cNvSpPr/>
          <p:nvPr/>
        </p:nvSpPr>
        <p:spPr>
          <a:xfrm>
            <a:off x="457200" y="1828800"/>
            <a:ext cx="6850000" cy="4234560"/>
          </a:xfrm>
          <a:prstGeom prst="roundRect">
            <a:avLst>
              <a:gd name="adj" fmla="val 2030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Card1 Label"/>
          <p:cNvSpPr/>
          <p:nvPr/>
        </p:nvSpPr>
        <p:spPr>
          <a:xfrm>
            <a:off x="731520" y="2057400"/>
            <a:ext cx="6301360" cy="32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0" kern="0" spc="120" dirty="0">
                <a:solidFill>
                  <a:srgbClr val="6EE7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PACKET TRACER — LOGICAL TOPOLOGY &amp; PDU TEST RESULTS</a:t>
            </a:r>
            <a:endParaRPr lang="en-US" sz="1000" dirty="0"/>
          </a:p>
        </p:txBody>
      </p:sp>
      <p:sp>
        <p:nvSpPr>
          <p:cNvPr id="9" name="Screenshot Frame"/>
          <p:cNvSpPr/>
          <p:nvPr/>
        </p:nvSpPr>
        <p:spPr>
          <a:xfrm>
            <a:off x="1430295" y="2450800"/>
            <a:ext cx="4903809" cy="3356240"/>
          </a:xfrm>
          <a:prstGeom prst="roundRect">
            <a:avLst>
              <a:gd name="adj" fmla="val 800"/>
            </a:avLst>
          </a:prstGeom>
          <a:solidFill>
            <a:srgbClr val="0A0F1C"/>
          </a:solidFill>
          <a:ln w="12700">
            <a:solidFill>
              <a:srgbClr val="2E4066"/>
            </a:solidFill>
            <a:prstDash val="solid"/>
          </a:ln>
        </p:spPr>
      </p:sp>
      <p:pic>
        <p:nvPicPr>
          <p:cNvPr id="10" name="Image Topolog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295" y="2468800"/>
            <a:ext cx="4867809" cy="3320240"/>
          </a:xfrm>
          <a:prstGeom prst="rect">
            <a:avLst/>
          </a:prstGeom>
        </p:spPr>
      </p:pic>
      <p:sp>
        <p:nvSpPr>
          <p:cNvPr id="11" name="Card Right"/>
          <p:cNvSpPr/>
          <p:nvPr/>
        </p:nvSpPr>
        <p:spPr>
          <a:xfrm>
            <a:off x="7581520" y="1828800"/>
            <a:ext cx="4153280" cy="4234560"/>
          </a:xfrm>
          <a:prstGeom prst="roundRect">
            <a:avLst>
              <a:gd name="adj" fmla="val 2030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Card2 Label"/>
          <p:cNvSpPr/>
          <p:nvPr/>
        </p:nvSpPr>
        <p:spPr>
          <a:xfrm>
            <a:off x="7855840" y="2057400"/>
            <a:ext cx="3604640" cy="32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0" kern="0" spc="12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THIS EVIDENCE MATTERS</a:t>
            </a:r>
            <a:endParaRPr lang="en-US" sz="1000" dirty="0"/>
          </a:p>
        </p:txBody>
      </p:sp>
      <p:sp>
        <p:nvSpPr>
          <p:cNvPr id="13" name="RowIcon0"/>
          <p:cNvSpPr/>
          <p:nvPr/>
        </p:nvSpPr>
        <p:spPr>
          <a:xfrm>
            <a:off x="7855840" y="2468800"/>
            <a:ext cx="380000" cy="380000"/>
          </a:xfrm>
          <a:prstGeom prst="ellipse">
            <a:avLst/>
          </a:prstGeom>
          <a:solidFill>
            <a:srgbClr val="4ADE80">
              <a:alpha val="20000"/>
            </a:srgbClr>
          </a:solidFill>
          <a:ln w="12700">
            <a:solidFill>
              <a:srgbClr val="4ADE80">
                <a:alpha val="55000"/>
              </a:srgbClr>
            </a:solidFill>
            <a:prstDash val="solid"/>
          </a:ln>
        </p:spPr>
      </p:sp>
      <p:pic>
        <p:nvPicPr>
          <p:cNvPr id="14" name="CheckIcon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5840" y="2558800"/>
            <a:ext cx="200000" cy="200000"/>
          </a:xfrm>
          <a:prstGeom prst="rect">
            <a:avLst/>
          </a:prstGeom>
        </p:spPr>
      </p:pic>
      <p:sp>
        <p:nvSpPr>
          <p:cNvPr id="15" name="RowTitle0"/>
          <p:cNvSpPr/>
          <p:nvPr/>
        </p:nvSpPr>
        <p:spPr>
          <a:xfrm>
            <a:off x="8415840" y="2428800"/>
            <a:ext cx="3044640" cy="3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i="0" kern="0" spc="0" dirty="0">
                <a:solidFill>
                  <a:srgbClr val="F5F7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lab, real topology</a:t>
            </a:r>
            <a:endParaRPr lang="en-US" sz="1200" dirty="0"/>
          </a:p>
        </p:txBody>
      </p:sp>
      <p:sp>
        <p:nvSpPr>
          <p:cNvPr id="16" name="RowDesc0"/>
          <p:cNvSpPr/>
          <p:nvPr/>
        </p:nvSpPr>
        <p:spPr>
          <a:xfrm>
            <a:off x="8415840" y="2748800"/>
            <a:ext cx="3044640" cy="5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b="0" i="0" kern="0" spc="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PC-A – R1 – R2 (pass-through) – R3 – PC-C matches the addressing table exactly.</a:t>
            </a:r>
            <a:endParaRPr lang="en-US" sz="1000" dirty="0"/>
          </a:p>
        </p:txBody>
      </p:sp>
      <p:sp>
        <p:nvSpPr>
          <p:cNvPr id="17" name="RowIcon1"/>
          <p:cNvSpPr/>
          <p:nvPr/>
        </p:nvSpPr>
        <p:spPr>
          <a:xfrm>
            <a:off x="7855840" y="3318800"/>
            <a:ext cx="380000" cy="380000"/>
          </a:xfrm>
          <a:prstGeom prst="ellipse">
            <a:avLst/>
          </a:prstGeom>
          <a:solidFill>
            <a:srgbClr val="4ADE80">
              <a:alpha val="20000"/>
            </a:srgbClr>
          </a:solidFill>
          <a:ln w="12700">
            <a:solidFill>
              <a:srgbClr val="4ADE80">
                <a:alpha val="55000"/>
              </a:srgbClr>
            </a:solidFill>
            <a:prstDash val="solid"/>
          </a:ln>
        </p:spPr>
      </p:sp>
      <p:pic>
        <p:nvPicPr>
          <p:cNvPr id="18" name="CheckIcon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5840" y="3408800"/>
            <a:ext cx="200000" cy="200000"/>
          </a:xfrm>
          <a:prstGeom prst="rect">
            <a:avLst/>
          </a:prstGeom>
        </p:spPr>
      </p:pic>
      <p:sp>
        <p:nvSpPr>
          <p:cNvPr id="19" name="RowTitle1"/>
          <p:cNvSpPr/>
          <p:nvPr/>
        </p:nvSpPr>
        <p:spPr>
          <a:xfrm>
            <a:off x="8415840" y="3278800"/>
            <a:ext cx="3044640" cy="3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i="0" kern="0" spc="0" dirty="0">
                <a:solidFill>
                  <a:srgbClr val="F5F7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OSPF underlay confirmed</a:t>
            </a:r>
            <a:endParaRPr lang="en-US" sz="1200" dirty="0"/>
          </a:p>
        </p:txBody>
      </p:sp>
      <p:sp>
        <p:nvSpPr>
          <p:cNvPr id="20" name="RowDesc1"/>
          <p:cNvSpPr/>
          <p:nvPr/>
        </p:nvSpPr>
        <p:spPr>
          <a:xfrm>
            <a:off x="8415840" y="3598800"/>
            <a:ext cx="3044640" cy="5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b="0" i="0" kern="0" spc="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ICMP tests to Router1, Router2, and PC1 all return Successful — routing works end to end.</a:t>
            </a:r>
            <a:endParaRPr lang="en-US" sz="1000" dirty="0"/>
          </a:p>
        </p:txBody>
      </p:sp>
      <p:sp>
        <p:nvSpPr>
          <p:cNvPr id="21" name="RowIcon2"/>
          <p:cNvSpPr/>
          <p:nvPr/>
        </p:nvSpPr>
        <p:spPr>
          <a:xfrm>
            <a:off x="7855840" y="4168800"/>
            <a:ext cx="380000" cy="380000"/>
          </a:xfrm>
          <a:prstGeom prst="ellipse">
            <a:avLst/>
          </a:prstGeom>
          <a:solidFill>
            <a:srgbClr val="4ADE80">
              <a:alpha val="20000"/>
            </a:srgbClr>
          </a:solidFill>
          <a:ln w="12700">
            <a:solidFill>
              <a:srgbClr val="4ADE80">
                <a:alpha val="55000"/>
              </a:srgbClr>
            </a:solidFill>
            <a:prstDash val="solid"/>
          </a:ln>
        </p:spPr>
      </p:sp>
      <p:pic>
        <p:nvPicPr>
          <p:cNvPr id="22" name="CheckIcon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5840" y="4258800"/>
            <a:ext cx="200000" cy="200000"/>
          </a:xfrm>
          <a:prstGeom prst="rect">
            <a:avLst/>
          </a:prstGeom>
        </p:spPr>
      </p:pic>
      <p:sp>
        <p:nvSpPr>
          <p:cNvPr id="23" name="RowTitle2"/>
          <p:cNvSpPr/>
          <p:nvPr/>
        </p:nvSpPr>
        <p:spPr>
          <a:xfrm>
            <a:off x="8415840" y="4128800"/>
            <a:ext cx="3044640" cy="3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i="0" kern="0" spc="0" dirty="0">
                <a:solidFill>
                  <a:srgbClr val="F5F7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baseline before IPsec</a:t>
            </a:r>
            <a:endParaRPr lang="en-US" sz="1200" dirty="0"/>
          </a:p>
        </p:txBody>
      </p:sp>
      <p:sp>
        <p:nvSpPr>
          <p:cNvPr id="24" name="RowDesc2"/>
          <p:cNvSpPr/>
          <p:nvPr/>
        </p:nvSpPr>
        <p:spPr>
          <a:xfrm>
            <a:off x="8415840" y="4448800"/>
            <a:ext cx="3044640" cy="5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b="0" i="0" kern="0" spc="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crypto map is active yet, so this connectivity is plain, unencrypted routing.</a:t>
            </a:r>
            <a:endParaRPr lang="en-US" sz="1000" dirty="0"/>
          </a:p>
        </p:txBody>
      </p:sp>
      <p:sp>
        <p:nvSpPr>
          <p:cNvPr id="25" name="RowIcon3"/>
          <p:cNvSpPr/>
          <p:nvPr/>
        </p:nvSpPr>
        <p:spPr>
          <a:xfrm>
            <a:off x="7855840" y="5018800"/>
            <a:ext cx="380000" cy="380000"/>
          </a:xfrm>
          <a:prstGeom prst="ellipse">
            <a:avLst/>
          </a:prstGeom>
          <a:solidFill>
            <a:srgbClr val="4ADE80">
              <a:alpha val="20000"/>
            </a:srgbClr>
          </a:solidFill>
          <a:ln w="12700">
            <a:solidFill>
              <a:srgbClr val="4ADE80">
                <a:alpha val="55000"/>
              </a:srgbClr>
            </a:solidFill>
            <a:prstDash val="solid"/>
          </a:ln>
        </p:spPr>
      </p:sp>
      <p:pic>
        <p:nvPicPr>
          <p:cNvPr id="26" name="CheckIcon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5840" y="5108800"/>
            <a:ext cx="200000" cy="200000"/>
          </a:xfrm>
          <a:prstGeom prst="rect">
            <a:avLst/>
          </a:prstGeom>
        </p:spPr>
      </p:pic>
      <p:sp>
        <p:nvSpPr>
          <p:cNvPr id="27" name="RowTitle3"/>
          <p:cNvSpPr/>
          <p:nvPr/>
        </p:nvSpPr>
        <p:spPr>
          <a:xfrm>
            <a:off x="8415840" y="4978800"/>
            <a:ext cx="3044640" cy="3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i="0" kern="0" spc="0" dirty="0">
                <a:solidFill>
                  <a:srgbClr val="F5F7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Sets up the tunnel evidence</a:t>
            </a:r>
            <a:endParaRPr lang="en-US" sz="1200" dirty="0"/>
          </a:p>
        </p:txBody>
      </p:sp>
      <p:sp>
        <p:nvSpPr>
          <p:cNvPr id="28" name="RowDesc3"/>
          <p:cNvSpPr/>
          <p:nvPr/>
        </p:nvSpPr>
        <p:spPr>
          <a:xfrm>
            <a:off x="8415840" y="5298800"/>
            <a:ext cx="3044640" cy="5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b="0" i="0" kern="0" spc="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encryption seen on the next slides is provably caused by IPsec, not by chance.</a:t>
            </a:r>
            <a:endParaRPr lang="en-US" sz="1000" dirty="0"/>
          </a:p>
        </p:txBody>
      </p:sp>
      <p:sp>
        <p:nvSpPr>
          <p:cNvPr id="29" name="Footer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i="0" kern="0" spc="1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IPSEC VPN  |  SECURE COMMUNICATIONS</a:t>
            </a:r>
            <a:endParaRPr lang="en-US" sz="900" dirty="0"/>
          </a:p>
        </p:txBody>
      </p:sp>
      <p:sp>
        <p:nvSpPr>
          <p:cNvPr id="30" name="PageNum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0" i="0" kern="0" spc="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515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Phase 1: IKE / ISAKMP Configuration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602736" cy="4297680"/>
          </a:xfrm>
          <a:prstGeom prst="roundRect">
            <a:avLst>
              <a:gd name="adj" fmla="val 2030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64792"/>
            <a:ext cx="512064" cy="512064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6" name="Image 0" descr="/home/claude/icons/cogs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369" y="1897929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404872"/>
            <a:ext cx="309067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ISAKMP Policy 10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13232" y="2807208"/>
            <a:ext cx="3090672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Defines control-plane security parameters.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13232" y="3520440"/>
            <a:ext cx="3090672" cy="475488"/>
          </a:xfrm>
          <a:prstGeom prst="roundRect">
            <a:avLst>
              <a:gd name="adj" fmla="val 11538"/>
            </a:avLst>
          </a:prstGeom>
          <a:solidFill>
            <a:srgbClr val="17223C"/>
          </a:solidFill>
          <a:ln w="9525">
            <a:solidFill>
              <a:srgbClr val="22305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3520440"/>
            <a:ext cx="2779776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Encryption: AES-256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13232" y="4123944"/>
            <a:ext cx="3090672" cy="475488"/>
          </a:xfrm>
          <a:prstGeom prst="roundRect">
            <a:avLst>
              <a:gd name="adj" fmla="val 11538"/>
            </a:avLst>
          </a:prstGeom>
          <a:solidFill>
            <a:srgbClr val="17223C"/>
          </a:solidFill>
          <a:ln w="9525">
            <a:solidFill>
              <a:srgbClr val="22305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4123944"/>
            <a:ext cx="2779776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Hash: SHA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13232" y="4727448"/>
            <a:ext cx="3090672" cy="475488"/>
          </a:xfrm>
          <a:prstGeom prst="roundRect">
            <a:avLst>
              <a:gd name="adj" fmla="val 11538"/>
            </a:avLst>
          </a:prstGeom>
          <a:solidFill>
            <a:srgbClr val="17223C"/>
          </a:solidFill>
          <a:ln w="9525">
            <a:solidFill>
              <a:srgbClr val="22305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6112" y="4727448"/>
            <a:ext cx="2779776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Lifetime: 3600s (1 hour)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288536" y="1508760"/>
            <a:ext cx="3602736" cy="4297680"/>
          </a:xfrm>
          <a:prstGeom prst="roundRect">
            <a:avLst>
              <a:gd name="adj" fmla="val 2030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44568" y="1764792"/>
            <a:ext cx="512064" cy="512064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17" name="Image 1" descr="/home/claude/icons/key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7705" y="1897929"/>
            <a:ext cx="245791" cy="24579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44568" y="2404872"/>
            <a:ext cx="309067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4544568" y="2807208"/>
            <a:ext cx="3090672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Uses Pre-Shared Keys (PSK) for peer validation.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544568" y="3520440"/>
            <a:ext cx="3090672" cy="475488"/>
          </a:xfrm>
          <a:prstGeom prst="roundRect">
            <a:avLst>
              <a:gd name="adj" fmla="val 11538"/>
            </a:avLst>
          </a:prstGeom>
          <a:solidFill>
            <a:srgbClr val="17223C"/>
          </a:solidFill>
          <a:ln w="9525">
            <a:solidFill>
              <a:srgbClr val="223052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727448" y="3520440"/>
            <a:ext cx="2779776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Key string: cisco123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544568" y="4123944"/>
            <a:ext cx="3090672" cy="475488"/>
          </a:xfrm>
          <a:prstGeom prst="roundRect">
            <a:avLst>
              <a:gd name="adj" fmla="val 11538"/>
            </a:avLst>
          </a:prstGeom>
          <a:solidFill>
            <a:srgbClr val="17223C"/>
          </a:solidFill>
          <a:ln w="9525">
            <a:solidFill>
              <a:srgbClr val="22305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727448" y="4123944"/>
            <a:ext cx="2779776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R1 → peer R3 (10.2.2.1)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544568" y="4727448"/>
            <a:ext cx="3090672" cy="475488"/>
          </a:xfrm>
          <a:prstGeom prst="roundRect">
            <a:avLst>
              <a:gd name="adj" fmla="val 11538"/>
            </a:avLst>
          </a:prstGeom>
          <a:solidFill>
            <a:srgbClr val="17223C"/>
          </a:solidFill>
          <a:ln w="9525">
            <a:solidFill>
              <a:srgbClr val="223052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727448" y="4727448"/>
            <a:ext cx="2779776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R3 → peer R1 (10.1.1.1)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8119872" y="1508760"/>
            <a:ext cx="3602736" cy="4297680"/>
          </a:xfrm>
          <a:prstGeom prst="roundRect">
            <a:avLst>
              <a:gd name="adj" fmla="val 2030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375904" y="1764792"/>
            <a:ext cx="512064" cy="512064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28" name="Image 2" descr="/home/claude/icons/exchange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041" y="1897929"/>
            <a:ext cx="245791" cy="245791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375904" y="2404872"/>
            <a:ext cx="309067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Exchange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8375904" y="2807208"/>
            <a:ext cx="3090672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Establishes a shared, secure management channel.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8375904" y="3520440"/>
            <a:ext cx="3090672" cy="475488"/>
          </a:xfrm>
          <a:prstGeom prst="roundRect">
            <a:avLst>
              <a:gd name="adj" fmla="val 11538"/>
            </a:avLst>
          </a:prstGeom>
          <a:solidFill>
            <a:srgbClr val="17223C"/>
          </a:solidFill>
          <a:ln w="9525">
            <a:solidFill>
              <a:srgbClr val="223052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558784" y="3520440"/>
            <a:ext cx="2779776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Diffie-Hellman Group 5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8375904" y="4123944"/>
            <a:ext cx="3090672" cy="475488"/>
          </a:xfrm>
          <a:prstGeom prst="roundRect">
            <a:avLst>
              <a:gd name="adj" fmla="val 11538"/>
            </a:avLst>
          </a:prstGeom>
          <a:solidFill>
            <a:srgbClr val="17223C"/>
          </a:solidFill>
          <a:ln w="9525">
            <a:solidFill>
              <a:srgbClr val="223052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8558784" y="4123944"/>
            <a:ext cx="2779776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Encrypted ISAKMP channel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8375904" y="4727448"/>
            <a:ext cx="3090672" cy="475488"/>
          </a:xfrm>
          <a:prstGeom prst="roundRect">
            <a:avLst>
              <a:gd name="adj" fmla="val 11538"/>
            </a:avLst>
          </a:prstGeom>
          <a:solidFill>
            <a:srgbClr val="17223C"/>
          </a:solidFill>
          <a:ln w="9525">
            <a:solidFill>
              <a:srgbClr val="223052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8558784" y="4727448"/>
            <a:ext cx="2779776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Prepares for Phase 2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IPSEC VPN  |  SECURE COMMUNICATIONS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515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Phase 2: IPsec Data Tunnel Configuration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602736" cy="4297680"/>
          </a:xfrm>
          <a:prstGeom prst="roundRect">
            <a:avLst>
              <a:gd name="adj" fmla="val 2030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69164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346704" y="1709928"/>
            <a:ext cx="457200" cy="457200"/>
          </a:xfrm>
          <a:prstGeom prst="ellipse">
            <a:avLst/>
          </a:prstGeom>
          <a:solidFill>
            <a:srgbClr val="3B82F6">
              <a:alpha val="22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7" name="Image 0" descr="/home/claude/icons/layerGroup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576" y="1828800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2331720"/>
            <a:ext cx="309067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Transform Set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13232" y="2715768"/>
            <a:ext cx="309067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Specifies payload encryption &amp; integrity algorithms.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13232" y="3474720"/>
            <a:ext cx="3090672" cy="1005840"/>
          </a:xfrm>
          <a:prstGeom prst="roundRect">
            <a:avLst>
              <a:gd name="adj" fmla="val 7273"/>
            </a:avLst>
          </a:prstGeom>
          <a:solidFill>
            <a:srgbClr val="0A0F1C"/>
          </a:solidFill>
          <a:ln w="12700">
            <a:solidFill>
              <a:srgbClr val="22305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3474720"/>
            <a:ext cx="2779776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EE7B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crypto ipsec transform-set 50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EE7B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esp-aes 256 esp-sha-hmac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88536" y="1508760"/>
            <a:ext cx="3602736" cy="4297680"/>
          </a:xfrm>
          <a:prstGeom prst="roundRect">
            <a:avLst>
              <a:gd name="adj" fmla="val 2030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544568" y="169164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178040" y="1709928"/>
            <a:ext cx="457200" cy="457200"/>
          </a:xfrm>
          <a:prstGeom prst="ellipse">
            <a:avLst/>
          </a:prstGeom>
          <a:solidFill>
            <a:srgbClr val="3B82F6">
              <a:alpha val="22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15" name="Image 1" descr="/home/claude/icons/eye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1828800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44568" y="2331720"/>
            <a:ext cx="309067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Interesting Traffic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544568" y="2715768"/>
            <a:ext cx="309067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ACL defines the traffic that triggers encryption.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44568" y="3474720"/>
            <a:ext cx="3090672" cy="1005840"/>
          </a:xfrm>
          <a:prstGeom prst="roundRect">
            <a:avLst>
              <a:gd name="adj" fmla="val 7273"/>
            </a:avLst>
          </a:prstGeom>
          <a:solidFill>
            <a:srgbClr val="0A0F1C"/>
          </a:solidFill>
          <a:ln w="12700">
            <a:solidFill>
              <a:srgbClr val="22305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700016" y="3474720"/>
            <a:ext cx="2779776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EE7B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access-list 101 permit ip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EE7B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192.168.1.0/24 192.168.3.0/24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8119872" y="1508760"/>
            <a:ext cx="3602736" cy="4297680"/>
          </a:xfrm>
          <a:prstGeom prst="roundRect">
            <a:avLst>
              <a:gd name="adj" fmla="val 2030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8375904" y="169164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11009376" y="1709928"/>
            <a:ext cx="457200" cy="457200"/>
          </a:xfrm>
          <a:prstGeom prst="ellipse">
            <a:avLst/>
          </a:prstGeom>
          <a:solidFill>
            <a:srgbClr val="3B82F6">
              <a:alpha val="22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23" name="Image 2" descr="/home/claude/icons/route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8248" y="1828800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375904" y="2331720"/>
            <a:ext cx="309067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Crypto Map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8375904" y="2715768"/>
            <a:ext cx="309067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Binds peer IP, ACL, and transform set together.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8375904" y="3474720"/>
            <a:ext cx="3090672" cy="1005840"/>
          </a:xfrm>
          <a:prstGeom prst="roundRect">
            <a:avLst>
              <a:gd name="adj" fmla="val 7273"/>
            </a:avLst>
          </a:prstGeom>
          <a:solidFill>
            <a:srgbClr val="0A0F1C"/>
          </a:solidFill>
          <a:ln w="12700">
            <a:solidFill>
              <a:srgbClr val="223052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531352" y="3474720"/>
            <a:ext cx="2779776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EE7B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crypto map CMAP 10 ipsec-isakmp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EE7B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(applied to WAN interface)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IPSEC VPN  |  SECURE COMMUNICATIONS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515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Full Running Configuration — R1 (Cisco IOS)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complete site-to-site tunnel using IKEv1 with AES-256 and SHA, in tunnel mode — matching the lab topology on the previous slides.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1274552" cy="4434840"/>
          </a:xfrm>
          <a:prstGeom prst="roundRect">
            <a:avLst>
              <a:gd name="adj" fmla="val 1649"/>
            </a:avLst>
          </a:prstGeom>
          <a:solidFill>
            <a:srgbClr val="0A0F1C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084832"/>
            <a:ext cx="146304" cy="146304"/>
          </a:xfrm>
          <a:prstGeom prst="ellipse">
            <a:avLst/>
          </a:prstGeom>
          <a:solidFill>
            <a:srgbClr val="F87171"/>
          </a:solidFill>
        </p:spPr>
      </p:sp>
      <p:sp>
        <p:nvSpPr>
          <p:cNvPr id="7" name="Shape 5"/>
          <p:cNvSpPr/>
          <p:nvPr/>
        </p:nvSpPr>
        <p:spPr>
          <a:xfrm>
            <a:off x="969264" y="2084832"/>
            <a:ext cx="146304" cy="146304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8" name="Shape 6"/>
          <p:cNvSpPr/>
          <p:nvPr/>
        </p:nvSpPr>
        <p:spPr>
          <a:xfrm>
            <a:off x="1225296" y="2084832"/>
            <a:ext cx="146304" cy="146304"/>
          </a:xfrm>
          <a:prstGeom prst="ellipse">
            <a:avLst/>
          </a:prstGeom>
          <a:solidFill>
            <a:srgbClr val="4ADE80"/>
          </a:solidFill>
        </p:spPr>
      </p:sp>
      <p:sp>
        <p:nvSpPr>
          <p:cNvPr id="9" name="Text 7"/>
          <p:cNvSpPr/>
          <p:nvPr/>
        </p:nvSpPr>
        <p:spPr>
          <a:xfrm>
            <a:off x="1554480" y="2029968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R1-BranchA# show running-config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395728"/>
            <a:ext cx="10607040" cy="3840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EE7B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crypto isakmp policy 10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EE7B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encryption aes 256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EE7B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authentication pre-share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EE7B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group 24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EE7B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crypto isakmp key cisco123 address 10.2.2.1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EE7B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!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EE7B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crypto ipsec transform-set 50 esp-aes 256 esp-sha-hmac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EE7B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!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EE7B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access-list 101 permit ip 192.168.1.0 0.0.0.255 192.168.3.0 0.0.0.255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EE7B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!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EE7B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crypto map CMAP 10 ipsec-isakmp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EE7B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set peer 10.2.2.1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EE7B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set transform-set 50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EE7B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match address 101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EE7B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!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EE7B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interface GigabitEthernet0/0/0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EE7B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crypto map CMAP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IPSEC VPN  |  SECURE COMMUNICATIONS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515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Verification &amp; Active Security Associations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602736" cy="4297680"/>
          </a:xfrm>
          <a:prstGeom prst="roundRect">
            <a:avLst>
              <a:gd name="adj" fmla="val 2030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64792"/>
            <a:ext cx="512064" cy="512064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6" name="Image 0" descr="/home/claude/icons/terminal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369" y="1897929"/>
            <a:ext cx="245791" cy="24579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3232" y="2423160"/>
            <a:ext cx="3090672" cy="502920"/>
          </a:xfrm>
          <a:prstGeom prst="roundRect">
            <a:avLst>
              <a:gd name="adj" fmla="val 10909"/>
            </a:avLst>
          </a:prstGeom>
          <a:solidFill>
            <a:srgbClr val="0A0F1C"/>
          </a:solidFill>
          <a:ln w="12700">
            <a:solidFill>
              <a:srgbClr val="22305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9536" y="2423160"/>
            <a:ext cx="27980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E7B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show crypto isakmp sa</a:t>
            </a:r>
            <a:endParaRPr lang="en-US" sz="1150" dirty="0"/>
          </a:p>
        </p:txBody>
      </p:sp>
      <p:sp>
        <p:nvSpPr>
          <p:cNvPr id="9" name="Screenshot Frame 1"/>
          <p:cNvSpPr/>
          <p:nvPr/>
        </p:nvSpPr>
        <p:spPr>
          <a:xfrm>
            <a:off x="838705" y="3123960"/>
            <a:ext cx="1921054" cy="1433040"/>
          </a:xfrm>
          <a:prstGeom prst="roundRect">
            <a:avLst>
              <a:gd name="adj" fmla="val 800"/>
            </a:avLst>
          </a:prstGeom>
          <a:solidFill>
            <a:srgbClr val="0A0F1C"/>
          </a:solidFill>
          <a:ln w="9525">
            <a:solidFill>
              <a:srgbClr val="2E4066"/>
            </a:solidFill>
            <a:prstDash val="solid"/>
          </a:ln>
        </p:spPr>
      </p:sp>
      <p:pic>
        <p:nvPicPr>
          <p:cNvPr id="901" name="Evidence Isakm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05" y="3138960"/>
            <a:ext cx="1891054" cy="1403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13232" y="4572000"/>
            <a:ext cx="3090672" cy="658368"/>
          </a:xfrm>
          <a:prstGeom prst="roundRect">
            <a:avLst>
              <a:gd name="adj" fmla="val 11111"/>
            </a:avLst>
          </a:prstGeom>
          <a:solidFill>
            <a:srgbClr val="4ADE80">
              <a:alpha val="1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4572000"/>
            <a:ext cx="3090672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ADE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QM_IDLE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288536" y="1508760"/>
            <a:ext cx="3602736" cy="4297680"/>
          </a:xfrm>
          <a:prstGeom prst="roundRect">
            <a:avLst>
              <a:gd name="adj" fmla="val 2030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44568" y="1764792"/>
            <a:ext cx="512064" cy="512064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14" name="Image 1" descr="/home/claude/icons/terminal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705" y="1897929"/>
            <a:ext cx="245791" cy="245791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544568" y="2423160"/>
            <a:ext cx="3090672" cy="502920"/>
          </a:xfrm>
          <a:prstGeom prst="roundRect">
            <a:avLst>
              <a:gd name="adj" fmla="val 10909"/>
            </a:avLst>
          </a:prstGeom>
          <a:solidFill>
            <a:srgbClr val="0A0F1C"/>
          </a:solidFill>
          <a:ln w="12700">
            <a:solidFill>
              <a:srgbClr val="22305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690872" y="2423160"/>
            <a:ext cx="27980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E7B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show crypto ipsec sa</a:t>
            </a:r>
            <a:endParaRPr lang="en-US" sz="1150" dirty="0"/>
          </a:p>
        </p:txBody>
      </p:sp>
      <p:sp>
        <p:nvSpPr>
          <p:cNvPr id="17" name="Screenshot Frame 2"/>
          <p:cNvSpPr/>
          <p:nvPr/>
        </p:nvSpPr>
        <p:spPr>
          <a:xfrm>
            <a:off x="4794835" y="3123960"/>
            <a:ext cx="1530733" cy="1433040"/>
          </a:xfrm>
          <a:prstGeom prst="roundRect">
            <a:avLst>
              <a:gd name="adj" fmla="val 800"/>
            </a:avLst>
          </a:prstGeom>
          <a:solidFill>
            <a:srgbClr val="0A0F1C"/>
          </a:solidFill>
          <a:ln w="9525">
            <a:solidFill>
              <a:srgbClr val="2E4066"/>
            </a:solidFill>
            <a:prstDash val="solid"/>
          </a:ln>
        </p:spPr>
      </p:sp>
      <p:pic>
        <p:nvPicPr>
          <p:cNvPr id="902" name="Evidence Ipse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835" y="3138960"/>
            <a:ext cx="1500733" cy="140304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544568" y="4572000"/>
            <a:ext cx="3090672" cy="658368"/>
          </a:xfrm>
          <a:prstGeom prst="roundRect">
            <a:avLst>
              <a:gd name="adj" fmla="val 11111"/>
            </a:avLst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44568" y="4572000"/>
            <a:ext cx="3090672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5 / 5 encrypted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8119872" y="1508760"/>
            <a:ext cx="3602736" cy="4297680"/>
          </a:xfrm>
          <a:prstGeom prst="roundRect">
            <a:avLst>
              <a:gd name="adj" fmla="val 2030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375904" y="1764792"/>
            <a:ext cx="512064" cy="512064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22" name="Image 2" descr="/home/claude/icons/terminal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041" y="1897929"/>
            <a:ext cx="245791" cy="245791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375904" y="2423160"/>
            <a:ext cx="3090672" cy="502920"/>
          </a:xfrm>
          <a:prstGeom prst="roundRect">
            <a:avLst>
              <a:gd name="adj" fmla="val 10909"/>
            </a:avLst>
          </a:prstGeom>
          <a:solidFill>
            <a:srgbClr val="0A0F1C"/>
          </a:solidFill>
          <a:ln w="12700">
            <a:solidFill>
              <a:srgbClr val="223052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522208" y="2423160"/>
            <a:ext cx="27980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E7B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show crypto map</a:t>
            </a:r>
            <a:endParaRPr lang="en-US" sz="1150" dirty="0"/>
          </a:p>
        </p:txBody>
      </p:sp>
      <p:sp>
        <p:nvSpPr>
          <p:cNvPr id="25" name="Screenshot Frame 3"/>
          <p:cNvSpPr/>
          <p:nvPr/>
        </p:nvSpPr>
        <p:spPr>
          <a:xfrm>
            <a:off x="8405904" y="3123960"/>
            <a:ext cx="3060672" cy="1433040"/>
          </a:xfrm>
          <a:prstGeom prst="roundRect">
            <a:avLst>
              <a:gd name="adj" fmla="val 800"/>
            </a:avLst>
          </a:prstGeom>
          <a:solidFill>
            <a:srgbClr val="0A0F1C"/>
          </a:solidFill>
          <a:ln w="9525">
            <a:solidFill>
              <a:srgbClr val="2E4066"/>
            </a:solidFill>
            <a:prstDash val="solid"/>
          </a:ln>
        </p:spPr>
      </p:sp>
      <p:pic>
        <p:nvPicPr>
          <p:cNvPr id="903" name="Evidence CryptoMa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0904" y="3138960"/>
            <a:ext cx="3021224" cy="1403040"/>
          </a:xfrm>
          <a:prstGeom prst="rect">
            <a:avLst/>
          </a:prstGeom>
        </p:spPr>
      </p:pic>
      <p:sp>
        <p:nvSpPr>
          <p:cNvPr id="904" name="Shape Stat3"/>
          <p:cNvSpPr/>
          <p:nvPr/>
        </p:nvSpPr>
        <p:spPr>
          <a:xfrm>
            <a:off x="8375904" y="4572000"/>
            <a:ext cx="3090672" cy="658368"/>
          </a:xfrm>
          <a:prstGeom prst="roundRect">
            <a:avLst>
              <a:gd name="adj" fmla="val 11111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05" name="Text Stat3"/>
          <p:cNvSpPr/>
          <p:nvPr/>
        </p:nvSpPr>
        <p:spPr>
          <a:xfrm>
            <a:off x="8375904" y="4572000"/>
            <a:ext cx="3090672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B82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Peer 10.2.2.1 · ACL 101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IPSEC VPN  |  SECURE COMMUNICATIONS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4" grpId="0"/>
      <p:bldP spid="5" grpId="0"/>
      <p:bldP spid="6" grpId="0"/>
      <p:bldP spid="7" grpId="0"/>
      <p:bldP spid="8" grpId="0"/>
      <p:bldP spid="9" grpId="0"/>
      <p:bldP spid="901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902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903" grpId="0"/>
      <p:bldP spid="904" grpId="0"/>
      <p:bldP spid="90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515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Insights From the Lab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602736" cy="4160520"/>
          </a:xfrm>
          <a:prstGeom prst="roundRect">
            <a:avLst>
              <a:gd name="adj" fmla="val 2030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2808" y="1920240"/>
            <a:ext cx="731520" cy="731520"/>
          </a:xfrm>
          <a:prstGeom prst="ellipse">
            <a:avLst/>
          </a:prstGeom>
          <a:solidFill>
            <a:srgbClr val="22D3EE">
              <a:alpha val="90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6" name="Image 0" descr="/home/claude/icons/bolt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003" y="211043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880360"/>
            <a:ext cx="305409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Dynamic Tunnel Activation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657600"/>
            <a:ext cx="2962656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SAs are created on-demand only when “interesting traffic” (LAN-to-LAN packets) matches the defined ACL.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88536" y="1600200"/>
            <a:ext cx="3602736" cy="4160520"/>
          </a:xfrm>
          <a:prstGeom prst="roundRect">
            <a:avLst>
              <a:gd name="adj" fmla="val 2030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24144" y="1920240"/>
            <a:ext cx="731520" cy="731520"/>
          </a:xfrm>
          <a:prstGeom prst="ellipse">
            <a:avLst/>
          </a:prstGeom>
          <a:solidFill>
            <a:srgbClr val="22D3EE">
              <a:alpha val="90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1" name="Image 1" descr="/home/claude/icons/wifi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39" y="211043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62856" y="2880360"/>
            <a:ext cx="305409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Uninteresting Traffic Behavior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08576" y="3657600"/>
            <a:ext cx="2962656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 router-to-router pings or OSPF Hello packets pass through standard, unencrypted IP routing.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19872" y="1600200"/>
            <a:ext cx="3602736" cy="4160520"/>
          </a:xfrm>
          <a:prstGeom prst="roundRect">
            <a:avLst>
              <a:gd name="adj" fmla="val 2030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55480" y="1920240"/>
            <a:ext cx="731520" cy="731520"/>
          </a:xfrm>
          <a:prstGeom prst="ellipse">
            <a:avLst/>
          </a:prstGeom>
          <a:solidFill>
            <a:srgbClr val="F5A623">
              <a:alpha val="90000"/>
            </a:srgbClr>
          </a:solidFill>
          <a:ln w="12700">
            <a:solidFill>
              <a:srgbClr val="F5A623">
                <a:alpha val="60000"/>
              </a:srgbClr>
            </a:solidFill>
            <a:prstDash val="solid"/>
          </a:ln>
        </p:spPr>
      </p:sp>
      <p:pic>
        <p:nvPicPr>
          <p:cNvPr id="16" name="Image 2" descr="/home/claude/icons/shield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5675" y="211043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2880360"/>
            <a:ext cx="305409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Local LAN Segment Security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39912" y="3657600"/>
            <a:ext cx="2962656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Traffic between local hosts (e.g. PC-A) and the local router interface remains plaintext; encryption occurs upon exiting the WAN interface.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IPSEC VPN  |  SECURE COMMUNICATIONS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WRAP-UP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515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745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IPsec secures IP traffic at the network layer using AH/ESP for data protection and IKE for automated key management — as demonstrated end-to-end in this session's live Cisco lab.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420624" cy="420624"/>
          </a:xfrm>
          <a:prstGeom prst="ellipse">
            <a:avLst/>
          </a:prstGeom>
          <a:solidFill>
            <a:srgbClr val="17223C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22576"/>
            <a:ext cx="42062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258568"/>
            <a:ext cx="10607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5F7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Tunnel mode + ESP is the practical default for real-world site-to-site and remote-access VPNs.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420624" cy="420624"/>
          </a:xfrm>
          <a:prstGeom prst="ellipse">
            <a:avLst/>
          </a:prstGeom>
          <a:solidFill>
            <a:srgbClr val="17223C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82696"/>
            <a:ext cx="42062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218688"/>
            <a:ext cx="10607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5F7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IKEv2 (RFC 7296) is the modern, recommended standard — faster, more resilient, and NAT-friendly by design.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251960"/>
            <a:ext cx="420624" cy="420624"/>
          </a:xfrm>
          <a:prstGeom prst="ellipse">
            <a:avLst/>
          </a:prstGeom>
          <a:solidFill>
            <a:srgbClr val="17223C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2062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4178808"/>
            <a:ext cx="10607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5F7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outcomes depend on current algorithms: AES, SHA-2, and 2048-bit+ / elliptic-curve Diffie-Hellman.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5212080"/>
            <a:ext cx="420624" cy="420624"/>
          </a:xfrm>
          <a:prstGeom prst="ellipse">
            <a:avLst/>
          </a:prstGeom>
          <a:solidFill>
            <a:srgbClr val="17223C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5202936"/>
            <a:ext cx="42062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5138928"/>
            <a:ext cx="10607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5F7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Cisco lab confirmed the theory in practice: ISAKMP + transform sets + crypto maps reliably brought up an encrypted, verifiable tunnel between two branch sites.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IPSEC VPN  |  SECURE COMMUNICATIONS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515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29184" cy="329184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5" name="Image 0" descr="/home/claude/icons/book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88" y="1685788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572768"/>
            <a:ext cx="10607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S. Frankel &amp; S. Krishnan, “IPsec/IKE Roadmap”, RFC 6071, IETF, Feb. 2011.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2221992"/>
            <a:ext cx="329184" cy="329184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8" name="Image 1" descr="/home/claude/icons/book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88" y="2307580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194560"/>
            <a:ext cx="10607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S. Kent &amp; K. Seo, “Security Architecture for the Internet Protocol”, RFC 4301, IETF, Dec. 2005.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57200" y="2843784"/>
            <a:ext cx="329184" cy="329184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11" name="Image 2" descr="/home/claude/icons/book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88" y="2929372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2816352"/>
            <a:ext cx="10607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C. Kaufman et al., “Internet Key Exchange Protocol Version 2 (IKEv2)”, RFC 7296, IETF, Oct. 2014.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457200" y="3465576"/>
            <a:ext cx="329184" cy="329184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14" name="Image 3" descr="/home/claude/icons/book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88" y="3551164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0120" y="3438144"/>
            <a:ext cx="10607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A. Huttunen et al., “UDP Encapsulation of IPsec ESP Packets”, RFC 3948, IETF, Jan. 2005.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457200" y="4087368"/>
            <a:ext cx="329184" cy="329184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17" name="Image 4" descr="/home/claude/icons/book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88" y="4172956"/>
            <a:ext cx="158008" cy="1580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60120" y="4059936"/>
            <a:ext cx="10607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Cisco Systems, “Configuring Security for VPNs with IPsec”, Cisco IOS Security Configuration Guide.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457200" y="4709160"/>
            <a:ext cx="329184" cy="329184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20" name="Image 5" descr="/home/claude/icons/book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88" y="4794748"/>
            <a:ext cx="158008" cy="15800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60120" y="4681728"/>
            <a:ext cx="10607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Cisco Systems, “Configuring Internet Key Exchange for IPsec VPNs”, Cisco IOS Security Configuration Guide.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457200" y="5330952"/>
            <a:ext cx="329184" cy="329184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23" name="Image 6" descr="/home/claude/icons/book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88" y="5416540"/>
            <a:ext cx="158008" cy="15800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60120" y="5303520"/>
            <a:ext cx="10607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Cisco Networking Academy, “Site-to-Site IPsec VPN Lab Guide”, CCNA Security Lab 19.5.6.</a:t>
            </a:r>
            <a:endParaRPr lang="en-US" sz="1250" dirty="0"/>
          </a:p>
        </p:txBody>
      </p:sp>
      <p:sp>
        <p:nvSpPr>
          <p:cNvPr id="25" name="Text 16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IPSEC VPN  |  SECURE COMMUNICATIONS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3B82F6">
              <a:alpha val="12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463040" y="4206240"/>
            <a:ext cx="3291840" cy="3291840"/>
          </a:xfrm>
          <a:prstGeom prst="ellipse">
            <a:avLst/>
          </a:prstGeom>
          <a:solidFill>
            <a:srgbClr val="22D3EE">
              <a:alpha val="1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914400" y="2148840"/>
            <a:ext cx="10360152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5F7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3154680"/>
            <a:ext cx="94457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12848" y="4114800"/>
            <a:ext cx="7772400" cy="777240"/>
          </a:xfrm>
          <a:prstGeom prst="roundRect">
            <a:avLst>
              <a:gd name="adj" fmla="val 14118"/>
            </a:avLst>
          </a:prstGeom>
          <a:solidFill>
            <a:srgbClr val="121B30"/>
          </a:solidFill>
          <a:ln w="12700">
            <a:solidFill>
              <a:srgbClr val="2230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12848" y="4224528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395728" y="4517136"/>
            <a:ext cx="7406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7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Mohammed Hany Mamdouh   •   Ahmed Ehab Mohamed   •   Ahmed Samir Ibrahim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IPSEC VPN  |  SECURE COMMUNICATIONS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 / 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12367</Words>
  <Application>WPS Presentation</Application>
  <PresentationFormat>On-screen Show (16:9)</PresentationFormat>
  <Paragraphs>759</Paragraphs>
  <Slides>24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9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Courier New</vt:lpstr>
      <vt:lpstr>Courier New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WPS_1777793672</cp:lastModifiedBy>
  <cp:revision>2</cp:revision>
  <dcterms:created xsi:type="dcterms:W3CDTF">2026-08-09T17:47:00Z</dcterms:created>
  <dcterms:modified xsi:type="dcterms:W3CDTF">2026-08-16T03:10:17Z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9B90BDDE28B64975960E8B63773A879A_12</vt:lpwstr>
  </property>
  <property fmtid="{D5CDD505-2E9C-101B-9397-08002B2CF9AE}" pid="3" name="KSOProductBuildVer">
    <vt:lpwstr>1033-12.1.0.28032</vt:lpwstr>
  </property>
</Properties>
</file>